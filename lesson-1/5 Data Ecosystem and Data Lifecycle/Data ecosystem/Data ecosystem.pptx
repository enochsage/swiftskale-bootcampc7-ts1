
<file path=[Content_Types].xml><?xml version="1.0" encoding="utf-8"?>
<Types xmlns="http://schemas.openxmlformats.org/package/2006/content-types">
  <Default Extension="gif" ContentType="image/gif"/>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18"/>
  </p:notesMasterIdLst>
  <p:sldIdLst>
    <p:sldId id="309" r:id="rId5"/>
    <p:sldId id="459" r:id="rId6"/>
    <p:sldId id="472" r:id="rId7"/>
    <p:sldId id="470" r:id="rId8"/>
    <p:sldId id="471" r:id="rId9"/>
    <p:sldId id="460" r:id="rId10"/>
    <p:sldId id="461" r:id="rId11"/>
    <p:sldId id="464" r:id="rId12"/>
    <p:sldId id="463" r:id="rId13"/>
    <p:sldId id="465" r:id="rId14"/>
    <p:sldId id="466" r:id="rId15"/>
    <p:sldId id="467" r:id="rId16"/>
    <p:sldId id="423"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63636"/>
    <a:srgbClr val="ADF50D"/>
    <a:srgbClr val="0D98CD"/>
    <a:srgbClr val="0B9ACE"/>
    <a:srgbClr val="029CA6"/>
    <a:srgbClr val="002060"/>
    <a:srgbClr val="F47D4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87801" autoAdjust="0"/>
  </p:normalViewPr>
  <p:slideViewPr>
    <p:cSldViewPr snapToGrid="0">
      <p:cViewPr varScale="1">
        <p:scale>
          <a:sx n="91" d="100"/>
          <a:sy n="91" d="100"/>
        </p:scale>
        <p:origin x="322"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FF0DC4-9CB7-49BA-8942-5853D102F002}" type="datetimeFigureOut">
              <a:rPr lang="en-GB" smtClean="0"/>
              <a:t>27/07/2022</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8B7C45-0FCC-4BC3-9B94-909AF4CDEEBB}" type="slidenum">
              <a:rPr lang="en-GB" smtClean="0"/>
              <a:t>‹#›</a:t>
            </a:fld>
            <a:endParaRPr lang="en-GB"/>
          </a:p>
        </p:txBody>
      </p:sp>
    </p:spTree>
    <p:extLst>
      <p:ext uri="{BB962C8B-B14F-4D97-AF65-F5344CB8AC3E}">
        <p14:creationId xmlns:p14="http://schemas.microsoft.com/office/powerpoint/2010/main" val="32412466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89F6DF8-CA09-4B41-8438-EF0E3804BC06}" type="slidenum">
              <a:rPr lang="en-US" smtClean="0"/>
              <a:t>1</a:t>
            </a:fld>
            <a:endParaRPr lang="en-US"/>
          </a:p>
        </p:txBody>
      </p:sp>
    </p:spTree>
    <p:extLst>
      <p:ext uri="{BB962C8B-B14F-4D97-AF65-F5344CB8AC3E}">
        <p14:creationId xmlns:p14="http://schemas.microsoft.com/office/powerpoint/2010/main" val="20647142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7/27/2022</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234375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7/27/2022</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404659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7/27/2022</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27835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7/27/2022</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883595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7/27/2022</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639257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7/27/2022</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685433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7/27/2022</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333937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7/27/2022</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7711844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7/27/2022</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016137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7/27/2022</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6030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2.gif"/></Relationships>
</file>

<file path=ppt/slides/_rels/slide2.xml.rels><?xml version="1.0" encoding="UTF-8" standalone="yes"?>
<Relationships xmlns="http://schemas.openxmlformats.org/package/2006/relationships"><Relationship Id="rId3" Type="http://schemas.openxmlformats.org/officeDocument/2006/relationships/hyperlink" Target="https://online.hbs.edu/blog/post/data-life-cycle" TargetMode="External"/><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144DCD92-7F29-430F-BDDA-BAB1092FBD66}"/>
              </a:ext>
            </a:extLst>
          </p:cNvPr>
          <p:cNvPicPr>
            <a:picLocks noChangeAspect="1"/>
          </p:cNvPicPr>
          <p:nvPr/>
        </p:nvPicPr>
        <p:blipFill>
          <a:blip r:embed="rId3"/>
          <a:stretch>
            <a:fillRect/>
          </a:stretch>
        </p:blipFill>
        <p:spPr>
          <a:xfrm>
            <a:off x="6705610" y="387082"/>
            <a:ext cx="4894256" cy="4772355"/>
          </a:xfrm>
          <a:prstGeom prst="rect">
            <a:avLst/>
          </a:prstGeom>
        </p:spPr>
      </p:pic>
      <p:pic>
        <p:nvPicPr>
          <p:cNvPr id="3" name="Picture 2">
            <a:extLst>
              <a:ext uri="{FF2B5EF4-FFF2-40B4-BE49-F238E27FC236}">
                <a16:creationId xmlns:a16="http://schemas.microsoft.com/office/drawing/2014/main" id="{D2A1CC74-957E-41A5-8DCF-1BEC12878FDB}"/>
              </a:ext>
            </a:extLst>
          </p:cNvPr>
          <p:cNvPicPr>
            <a:picLocks noChangeAspect="1"/>
          </p:cNvPicPr>
          <p:nvPr/>
        </p:nvPicPr>
        <p:blipFill>
          <a:blip r:embed="rId4"/>
          <a:stretch>
            <a:fillRect/>
          </a:stretch>
        </p:blipFill>
        <p:spPr>
          <a:xfrm>
            <a:off x="1049112" y="128937"/>
            <a:ext cx="6096000" cy="6096000"/>
          </a:xfrm>
          <a:prstGeom prst="rect">
            <a:avLst/>
          </a:prstGeom>
        </p:spPr>
      </p:pic>
      <p:sp>
        <p:nvSpPr>
          <p:cNvPr id="6" name="Rectangle 5"/>
          <p:cNvSpPr/>
          <p:nvPr/>
        </p:nvSpPr>
        <p:spPr>
          <a:xfrm>
            <a:off x="-9223" y="4156"/>
            <a:ext cx="12210445" cy="6849688"/>
          </a:xfrm>
          <a:prstGeom prst="rect">
            <a:avLst/>
          </a:prstGeom>
          <a:solidFill>
            <a:srgbClr val="00B0F0">
              <a:alpha val="8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22" name="Title 1"/>
          <p:cNvSpPr>
            <a:spLocks noGrp="1"/>
          </p:cNvSpPr>
          <p:nvPr>
            <p:ph type="title"/>
          </p:nvPr>
        </p:nvSpPr>
        <p:spPr>
          <a:xfrm>
            <a:off x="522621" y="1428037"/>
            <a:ext cx="10531213" cy="3064138"/>
          </a:xfrm>
          <a:effectLst>
            <a:outerShdw blurRad="50800" dist="38100" dir="2700000" algn="tl" rotWithShape="0">
              <a:prstClr val="black">
                <a:alpha val="40000"/>
              </a:prstClr>
            </a:outerShdw>
          </a:effectLst>
        </p:spPr>
        <p:txBody>
          <a:bodyPr>
            <a:noAutofit/>
          </a:bodyPr>
          <a:lstStyle/>
          <a:p>
            <a:pPr algn="ctr"/>
            <a:r>
              <a:rPr lang="en-US" sz="3600" dirty="0">
                <a:solidFill>
                  <a:schemeClr val="tx1"/>
                </a:solidFill>
              </a:rPr>
              <a:t>Data ecosystem, data lifecycle, and </a:t>
            </a:r>
            <a:br>
              <a:rPr lang="en-US" sz="3600" dirty="0">
                <a:solidFill>
                  <a:schemeClr val="tx1"/>
                </a:solidFill>
              </a:rPr>
            </a:br>
            <a:r>
              <a:rPr lang="en-US" sz="3600" dirty="0">
                <a:solidFill>
                  <a:schemeClr val="tx1"/>
                </a:solidFill>
              </a:rPr>
              <a:t>building your analytical skill set.</a:t>
            </a:r>
          </a:p>
        </p:txBody>
      </p:sp>
      <p:sp>
        <p:nvSpPr>
          <p:cNvPr id="25" name="Title 1"/>
          <p:cNvSpPr txBox="1">
            <a:spLocks/>
          </p:cNvSpPr>
          <p:nvPr/>
        </p:nvSpPr>
        <p:spPr>
          <a:xfrm>
            <a:off x="1764348" y="3642239"/>
            <a:ext cx="8911631" cy="1069332"/>
          </a:xfrm>
          <a:prstGeom prst="rect">
            <a:avLst/>
          </a:prstGeom>
          <a:effectLst>
            <a:outerShdw blurRad="50800" dist="38100" dir="2700000" algn="tl" rotWithShape="0">
              <a:prstClr val="black">
                <a:alpha val="40000"/>
              </a:prstClr>
            </a:outerShdw>
          </a:effectLst>
        </p:spPr>
        <p:txBody>
          <a:bodyPr vert="horz" lIns="121920" tIns="60960" rIns="121920" bIns="60960" rtlCol="0" anchor="ctr">
            <a:normAutofit/>
          </a:bodyPr>
          <a:lstStyle>
            <a:lvl1pPr algn="ctr" defTabSz="457200" rtl="0" eaLnBrk="1" latinLnBrk="0" hangingPunct="1">
              <a:spcBef>
                <a:spcPct val="0"/>
              </a:spcBef>
              <a:buNone/>
              <a:defRPr sz="4000" kern="1200">
                <a:solidFill>
                  <a:schemeClr val="tx1"/>
                </a:solidFill>
                <a:latin typeface="Rockwell"/>
                <a:ea typeface="+mj-ea"/>
                <a:cs typeface="+mj-cs"/>
              </a:defRPr>
            </a:lvl1pPr>
          </a:lstStyle>
          <a:p>
            <a:endParaRPr lang="en-US" sz="2400" i="1" dirty="0">
              <a:solidFill>
                <a:schemeClr val="bg1">
                  <a:lumMod val="95000"/>
                </a:schemeClr>
              </a:solidFill>
              <a:latin typeface="+mj-lt"/>
            </a:endParaRPr>
          </a:p>
        </p:txBody>
      </p:sp>
      <p:sp>
        <p:nvSpPr>
          <p:cNvPr id="34" name="Rectangle 33">
            <a:hlinkClick r:id="" action="ppaction://hlinkshowjump?jump=nextslide"/>
          </p:cNvPr>
          <p:cNvSpPr/>
          <p:nvPr/>
        </p:nvSpPr>
        <p:spPr>
          <a:xfrm rot="16200000">
            <a:off x="8448333" y="3124142"/>
            <a:ext cx="6884404" cy="609715"/>
          </a:xfrm>
          <a:prstGeom prst="rect">
            <a:avLst/>
          </a:prstGeom>
          <a:solidFill>
            <a:srgbClr val="00B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667" b="1" dirty="0">
                <a:solidFill>
                  <a:schemeClr val="bg1"/>
                </a:solidFill>
              </a:rPr>
              <a:t>Continue</a:t>
            </a:r>
          </a:p>
        </p:txBody>
      </p:sp>
      <p:sp>
        <p:nvSpPr>
          <p:cNvPr id="19" name="Title 1">
            <a:extLst>
              <a:ext uri="{FF2B5EF4-FFF2-40B4-BE49-F238E27FC236}">
                <a16:creationId xmlns:a16="http://schemas.microsoft.com/office/drawing/2014/main" id="{4D9F7AC1-161A-4DE4-9601-B351378BC76B}"/>
              </a:ext>
            </a:extLst>
          </p:cNvPr>
          <p:cNvSpPr txBox="1">
            <a:spLocks/>
          </p:cNvSpPr>
          <p:nvPr/>
        </p:nvSpPr>
        <p:spPr>
          <a:xfrm>
            <a:off x="1684289" y="5102379"/>
            <a:ext cx="8371341" cy="1069332"/>
          </a:xfrm>
          <a:prstGeom prst="rect">
            <a:avLst/>
          </a:prstGeom>
          <a:effectLst>
            <a:outerShdw blurRad="50800" dist="38100" dir="2700000" algn="tl" rotWithShape="0">
              <a:prstClr val="black">
                <a:alpha val="40000"/>
              </a:prstClr>
            </a:outerShdw>
          </a:effectLst>
        </p:spPr>
        <p:txBody>
          <a:bodyPr vert="horz" lIns="121920" tIns="60960" rIns="121920" bIns="60960" rtlCol="0" anchor="ctr">
            <a:normAutofit/>
          </a:bodyPr>
          <a:lstStyle>
            <a:lvl1pPr algn="ctr" defTabSz="457200" rtl="0" eaLnBrk="1" latinLnBrk="0" hangingPunct="1">
              <a:spcBef>
                <a:spcPct val="0"/>
              </a:spcBef>
              <a:buNone/>
              <a:defRPr sz="4000" kern="1200">
                <a:solidFill>
                  <a:schemeClr val="tx1"/>
                </a:solidFill>
                <a:latin typeface="Rockwell"/>
                <a:ea typeface="+mj-ea"/>
                <a:cs typeface="+mj-cs"/>
              </a:defRPr>
            </a:lvl1pPr>
          </a:lstStyle>
          <a:p>
            <a:pPr marR="0" lvl="0">
              <a:lnSpc>
                <a:spcPct val="107000"/>
              </a:lnSpc>
              <a:spcBef>
                <a:spcPts val="0"/>
              </a:spcBef>
              <a:spcAft>
                <a:spcPts val="800"/>
              </a:spcAft>
            </a:pPr>
            <a:r>
              <a:rPr lang="en-GB" sz="2400" i="1" dirty="0">
                <a:effectLst/>
                <a:latin typeface="Times New Roman" panose="02020603050405020304" pitchFamily="18" charset="0"/>
                <a:ea typeface="Calibri" panose="020F0502020204030204" pitchFamily="34" charset="0"/>
                <a:cs typeface="Times New Roman" panose="02020603050405020304" pitchFamily="18" charset="0"/>
              </a:rPr>
              <a:t>In this module, we will data </a:t>
            </a:r>
            <a:r>
              <a:rPr lang="en-GB" sz="2400" i="1" dirty="0">
                <a:latin typeface="Times New Roman" panose="02020603050405020304" pitchFamily="18" charset="0"/>
                <a:ea typeface="Calibri" panose="020F0502020204030204" pitchFamily="34" charset="0"/>
                <a:cs typeface="Times New Roman" panose="02020603050405020304" pitchFamily="18" charset="0"/>
              </a:rPr>
              <a:t>e</a:t>
            </a:r>
            <a:r>
              <a:rPr lang="en-GB" sz="2400" i="1" dirty="0">
                <a:effectLst/>
                <a:latin typeface="Times New Roman" panose="02020603050405020304" pitchFamily="18" charset="0"/>
                <a:ea typeface="Calibri" panose="020F0502020204030204" pitchFamily="34" charset="0"/>
                <a:cs typeface="Times New Roman" panose="02020603050405020304" pitchFamily="18" charset="0"/>
              </a:rPr>
              <a:t>cosystem, </a:t>
            </a:r>
            <a:r>
              <a:rPr lang="en-GB" sz="2400" b="1" i="1" dirty="0">
                <a:solidFill>
                  <a:srgbClr val="1F1F1F"/>
                </a:solidFill>
                <a:latin typeface="+mj-lt"/>
                <a:ea typeface="Calibri" panose="020F0502020204030204" pitchFamily="34" charset="0"/>
                <a:cs typeface="Times New Roman" panose="02020603050405020304" pitchFamily="18" charset="0"/>
              </a:rPr>
              <a:t>d</a:t>
            </a:r>
            <a:r>
              <a:rPr lang="en-GB" sz="2400" b="1" dirty="0">
                <a:solidFill>
                  <a:srgbClr val="1F1F1F"/>
                </a:solidFill>
                <a:effectLst/>
                <a:latin typeface="+mj-lt"/>
                <a:ea typeface="Calibri" panose="020F0502020204030204" pitchFamily="34" charset="0"/>
                <a:cs typeface="Times New Roman" panose="02020603050405020304" pitchFamily="18" charset="0"/>
              </a:rPr>
              <a:t>ata analysis life cycle and building your analytical skill set.</a:t>
            </a:r>
            <a:endParaRPr lang="en-GB" sz="2400" i="1"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3455048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34"/>
                                        </p:tgtEl>
                                        <p:attrNameLst>
                                          <p:attrName>style.visibility</p:attrName>
                                        </p:attrNameLst>
                                      </p:cBhvr>
                                      <p:to>
                                        <p:strVal val="visible"/>
                                      </p:to>
                                    </p:set>
                                    <p:anim calcmode="lin" valueType="num">
                                      <p:cBhvr additive="base">
                                        <p:cTn id="7" dur="500" fill="hold"/>
                                        <p:tgtEl>
                                          <p:spTgt spid="34"/>
                                        </p:tgtEl>
                                        <p:attrNameLst>
                                          <p:attrName>ppt_x</p:attrName>
                                        </p:attrNameLst>
                                      </p:cBhvr>
                                      <p:tavLst>
                                        <p:tav tm="0">
                                          <p:val>
                                            <p:strVal val="1+#ppt_w/2"/>
                                          </p:val>
                                        </p:tav>
                                        <p:tav tm="100000">
                                          <p:val>
                                            <p:strVal val="#ppt_x"/>
                                          </p:val>
                                        </p:tav>
                                      </p:tavLst>
                                    </p:anim>
                                    <p:anim calcmode="lin" valueType="num">
                                      <p:cBhvr additive="base">
                                        <p:cTn id="8" dur="500" fill="hold"/>
                                        <p:tgtEl>
                                          <p:spTgt spid="3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60A701F-5079-000C-7A44-D838C22C319A}"/>
              </a:ext>
            </a:extLst>
          </p:cNvPr>
          <p:cNvPicPr>
            <a:picLocks noChangeAspect="1"/>
          </p:cNvPicPr>
          <p:nvPr/>
        </p:nvPicPr>
        <p:blipFill>
          <a:blip r:embed="rId2"/>
          <a:stretch>
            <a:fillRect/>
          </a:stretch>
        </p:blipFill>
        <p:spPr>
          <a:xfrm>
            <a:off x="6199464" y="277537"/>
            <a:ext cx="5763237" cy="5763237"/>
          </a:xfrm>
          <a:prstGeom prst="rect">
            <a:avLst/>
          </a:prstGeom>
        </p:spPr>
      </p:pic>
      <p:sp>
        <p:nvSpPr>
          <p:cNvPr id="4" name="TextBox 3">
            <a:extLst>
              <a:ext uri="{FF2B5EF4-FFF2-40B4-BE49-F238E27FC236}">
                <a16:creationId xmlns:a16="http://schemas.microsoft.com/office/drawing/2014/main" id="{E7388700-120C-0792-2120-81643027E425}"/>
              </a:ext>
            </a:extLst>
          </p:cNvPr>
          <p:cNvSpPr txBox="1"/>
          <p:nvPr/>
        </p:nvSpPr>
        <p:spPr>
          <a:xfrm>
            <a:off x="6845417" y="5880683"/>
            <a:ext cx="4228051" cy="461665"/>
          </a:xfrm>
          <a:prstGeom prst="rect">
            <a:avLst/>
          </a:prstGeom>
          <a:noFill/>
        </p:spPr>
        <p:txBody>
          <a:bodyPr wrap="square" rtlCol="0">
            <a:spAutoFit/>
          </a:bodyPr>
          <a:lstStyle/>
          <a:p>
            <a:r>
              <a:rPr lang="en-US" sz="1200" dirty="0"/>
              <a:t>Image source: </a:t>
            </a:r>
            <a:r>
              <a:rPr lang="en-US" sz="1200" dirty="0">
                <a:hlinkClick r:id="rId3"/>
              </a:rPr>
              <a:t>https://online.hbs.edu/blog/post/data-life-cycle</a:t>
            </a:r>
            <a:endParaRPr lang="en-US" sz="1200" dirty="0"/>
          </a:p>
          <a:p>
            <a:endParaRPr lang="en-US" sz="1200" dirty="0"/>
          </a:p>
        </p:txBody>
      </p:sp>
      <p:sp>
        <p:nvSpPr>
          <p:cNvPr id="5" name="TextBox 4">
            <a:extLst>
              <a:ext uri="{FF2B5EF4-FFF2-40B4-BE49-F238E27FC236}">
                <a16:creationId xmlns:a16="http://schemas.microsoft.com/office/drawing/2014/main" id="{837DFB9E-2F6E-1DD6-51C7-79C3E9555718}"/>
              </a:ext>
            </a:extLst>
          </p:cNvPr>
          <p:cNvSpPr txBox="1"/>
          <p:nvPr/>
        </p:nvSpPr>
        <p:spPr>
          <a:xfrm>
            <a:off x="520117" y="478172"/>
            <a:ext cx="5301843" cy="1754326"/>
          </a:xfrm>
          <a:prstGeom prst="rect">
            <a:avLst/>
          </a:prstGeom>
          <a:noFill/>
        </p:spPr>
        <p:txBody>
          <a:bodyPr wrap="square" rtlCol="0">
            <a:spAutoFit/>
          </a:bodyPr>
          <a:lstStyle/>
          <a:p>
            <a:r>
              <a:rPr lang="en-US" sz="1800" b="0" i="0" dirty="0">
                <a:solidFill>
                  <a:srgbClr val="1D1D24"/>
                </a:solidFill>
                <a:effectLst/>
                <a:latin typeface="TradeGothicNextLTPro-Rg"/>
              </a:rPr>
              <a:t>The lifecycle of a data project is usually referred to as a feedback loop because the knowledge gained and the insights obtained from one project usually influence the next. The last phase of the process then feeds back into the first, allowing you to restart with novel objectives and ideas.</a:t>
            </a:r>
            <a:endParaRPr lang="en-US" dirty="0"/>
          </a:p>
        </p:txBody>
      </p:sp>
    </p:spTree>
    <p:extLst>
      <p:ext uri="{BB962C8B-B14F-4D97-AF65-F5344CB8AC3E}">
        <p14:creationId xmlns:p14="http://schemas.microsoft.com/office/powerpoint/2010/main" val="34360082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35678FF5-626F-0CA4-2F65-051A855881F0}"/>
              </a:ext>
            </a:extLst>
          </p:cNvPr>
          <p:cNvSpPr txBox="1"/>
          <p:nvPr/>
        </p:nvSpPr>
        <p:spPr>
          <a:xfrm>
            <a:off x="662732" y="442171"/>
            <a:ext cx="7650759" cy="5564280"/>
          </a:xfrm>
          <a:prstGeom prst="rect">
            <a:avLst/>
          </a:prstGeom>
          <a:noFill/>
        </p:spPr>
        <p:txBody>
          <a:bodyPr wrap="square">
            <a:spAutoFit/>
          </a:bodyPr>
          <a:lstStyle/>
          <a:p>
            <a:pPr marL="0" marR="0">
              <a:lnSpc>
                <a:spcPct val="150000"/>
              </a:lnSpc>
              <a:spcBef>
                <a:spcPts val="0"/>
              </a:spcBef>
              <a:spcAft>
                <a:spcPts val="800"/>
              </a:spcAft>
            </a:pPr>
            <a:r>
              <a:rPr lang="en-GB" sz="1600" b="1" dirty="0">
                <a:solidFill>
                  <a:srgbClr val="1F1F1F"/>
                </a:solidFill>
                <a:effectLst/>
                <a:latin typeface="+mj-lt"/>
                <a:ea typeface="Calibri" panose="020F0502020204030204" pitchFamily="34" charset="0"/>
                <a:cs typeface="Times New Roman" panose="02020603050405020304" pitchFamily="18" charset="0"/>
              </a:rPr>
              <a:t>Data analysis life cycle</a:t>
            </a:r>
            <a:r>
              <a:rPr lang="en-GB" sz="1600" dirty="0">
                <a:solidFill>
                  <a:srgbClr val="1F1F1F"/>
                </a:solidFill>
                <a:effectLst/>
                <a:latin typeface="+mj-lt"/>
                <a:ea typeface="Calibri" panose="020F0502020204030204" pitchFamily="34" charset="0"/>
                <a:cs typeface="Times New Roman" panose="02020603050405020304" pitchFamily="18" charset="0"/>
              </a:rPr>
              <a:t>—the process of going from data to decision. Data goes through several phases as it gets created, consumed, tested, processed, and reused.</a:t>
            </a:r>
            <a:endParaRPr lang="en-US" sz="1600" dirty="0">
              <a:effectLst/>
              <a:latin typeface="+mj-lt"/>
              <a:ea typeface="Calibri" panose="020F0502020204030204" pitchFamily="34" charset="0"/>
              <a:cs typeface="Times New Roman" panose="02020603050405020304" pitchFamily="18" charset="0"/>
            </a:endParaRPr>
          </a:p>
          <a:p>
            <a:pPr marR="0" lvl="0">
              <a:lnSpc>
                <a:spcPct val="150000"/>
              </a:lnSpc>
              <a:spcBef>
                <a:spcPts val="0"/>
              </a:spcBef>
              <a:spcAft>
                <a:spcPts val="1200"/>
              </a:spcAft>
            </a:pPr>
            <a:r>
              <a:rPr lang="en-GB" sz="1800" dirty="0">
                <a:solidFill>
                  <a:srgbClr val="1F1F1F"/>
                </a:solidFill>
                <a:effectLst/>
                <a:latin typeface="+mj-lt"/>
                <a:ea typeface="Times New Roman" panose="02020603050405020304" pitchFamily="18" charset="0"/>
              </a:rPr>
              <a:t>The data analysis process presented as part of the Google Data Analytics Certificate is one that will be valuable to you as you keep moving forward in your career. They include:</a:t>
            </a:r>
            <a:endParaRPr lang="en-US" sz="1800" dirty="0">
              <a:effectLst/>
              <a:latin typeface="+mj-lt"/>
              <a:ea typeface="Times New Roman" panose="02020603050405020304" pitchFamily="18" charset="0"/>
            </a:endParaRPr>
          </a:p>
          <a:p>
            <a:pPr marL="342900" marR="0" lvl="0" indent="-342900">
              <a:lnSpc>
                <a:spcPct val="150000"/>
              </a:lnSpc>
              <a:spcBef>
                <a:spcPts val="0"/>
              </a:spcBef>
              <a:spcAft>
                <a:spcPts val="0"/>
              </a:spcAft>
              <a:tabLst>
                <a:tab pos="457200" algn="l"/>
              </a:tabLst>
            </a:pPr>
            <a:r>
              <a:rPr lang="en-GB" sz="1800" b="1" dirty="0">
                <a:solidFill>
                  <a:srgbClr val="1F1F1F"/>
                </a:solidFill>
                <a:effectLst/>
                <a:latin typeface="+mj-lt"/>
                <a:ea typeface="Times New Roman" panose="02020603050405020304" pitchFamily="18" charset="0"/>
                <a:cs typeface="Arial" panose="020B0604020202020204" pitchFamily="34" charset="0"/>
              </a:rPr>
              <a:t>Ask</a:t>
            </a:r>
            <a:r>
              <a:rPr lang="en-GB" sz="1800" dirty="0">
                <a:solidFill>
                  <a:srgbClr val="1F1F1F"/>
                </a:solidFill>
                <a:effectLst/>
                <a:latin typeface="+mj-lt"/>
                <a:ea typeface="Times New Roman" panose="02020603050405020304" pitchFamily="18" charset="0"/>
              </a:rPr>
              <a:t>: Business Challenge/Objective/Question</a:t>
            </a:r>
            <a:endParaRPr lang="en-US" sz="1800" dirty="0">
              <a:effectLst/>
              <a:latin typeface="+mj-lt"/>
              <a:ea typeface="Times New Roman" panose="02020603050405020304" pitchFamily="18" charset="0"/>
            </a:endParaRPr>
          </a:p>
          <a:p>
            <a:pPr marL="342900" marR="0" lvl="0" indent="-342900">
              <a:lnSpc>
                <a:spcPct val="150000"/>
              </a:lnSpc>
              <a:spcBef>
                <a:spcPts val="0"/>
              </a:spcBef>
              <a:spcAft>
                <a:spcPts val="0"/>
              </a:spcAft>
              <a:tabLst>
                <a:tab pos="457200" algn="l"/>
              </a:tabLst>
            </a:pPr>
            <a:r>
              <a:rPr lang="en-GB" sz="1800" b="1" dirty="0">
                <a:solidFill>
                  <a:srgbClr val="1F1F1F"/>
                </a:solidFill>
                <a:effectLst/>
                <a:latin typeface="+mj-lt"/>
                <a:ea typeface="Times New Roman" panose="02020603050405020304" pitchFamily="18" charset="0"/>
                <a:cs typeface="Arial" panose="020B0604020202020204" pitchFamily="34" charset="0"/>
              </a:rPr>
              <a:t>Prepare</a:t>
            </a:r>
            <a:r>
              <a:rPr lang="en-GB" sz="1800" dirty="0">
                <a:solidFill>
                  <a:srgbClr val="1F1F1F"/>
                </a:solidFill>
                <a:effectLst/>
                <a:latin typeface="+mj-lt"/>
                <a:ea typeface="Times New Roman" panose="02020603050405020304" pitchFamily="18" charset="0"/>
              </a:rPr>
              <a:t>: Data generation, collection, storage, and data management.</a:t>
            </a:r>
            <a:endParaRPr lang="en-US" sz="1800" dirty="0">
              <a:effectLst/>
              <a:latin typeface="+mj-lt"/>
              <a:ea typeface="Times New Roman" panose="02020603050405020304" pitchFamily="18" charset="0"/>
            </a:endParaRPr>
          </a:p>
          <a:p>
            <a:pPr marL="342900" marR="0" lvl="0" indent="-342900">
              <a:lnSpc>
                <a:spcPct val="150000"/>
              </a:lnSpc>
              <a:spcBef>
                <a:spcPts val="0"/>
              </a:spcBef>
              <a:spcAft>
                <a:spcPts val="0"/>
              </a:spcAft>
              <a:tabLst>
                <a:tab pos="457200" algn="l"/>
              </a:tabLst>
            </a:pPr>
            <a:r>
              <a:rPr lang="en-GB" sz="1800" b="1" dirty="0">
                <a:solidFill>
                  <a:srgbClr val="1F1F1F"/>
                </a:solidFill>
                <a:effectLst/>
                <a:latin typeface="+mj-lt"/>
                <a:ea typeface="Times New Roman" panose="02020603050405020304" pitchFamily="18" charset="0"/>
                <a:cs typeface="Arial" panose="020B0604020202020204" pitchFamily="34" charset="0"/>
              </a:rPr>
              <a:t>Process</a:t>
            </a:r>
            <a:r>
              <a:rPr lang="en-GB" sz="1800" dirty="0">
                <a:solidFill>
                  <a:srgbClr val="1F1F1F"/>
                </a:solidFill>
                <a:effectLst/>
                <a:latin typeface="+mj-lt"/>
                <a:ea typeface="Times New Roman" panose="02020603050405020304" pitchFamily="18" charset="0"/>
              </a:rPr>
              <a:t>: Data cleaning/data integrity</a:t>
            </a:r>
            <a:endParaRPr lang="en-US" sz="1800" dirty="0">
              <a:effectLst/>
              <a:latin typeface="+mj-lt"/>
              <a:ea typeface="Times New Roman" panose="02020603050405020304" pitchFamily="18" charset="0"/>
            </a:endParaRPr>
          </a:p>
          <a:p>
            <a:pPr marL="342900" marR="0" lvl="0" indent="-342900">
              <a:lnSpc>
                <a:spcPct val="150000"/>
              </a:lnSpc>
              <a:spcBef>
                <a:spcPts val="0"/>
              </a:spcBef>
              <a:spcAft>
                <a:spcPts val="0"/>
              </a:spcAft>
              <a:tabLst>
                <a:tab pos="457200" algn="l"/>
              </a:tabLst>
            </a:pPr>
            <a:r>
              <a:rPr lang="en-GB" sz="1800" b="1" dirty="0">
                <a:solidFill>
                  <a:srgbClr val="1F1F1F"/>
                </a:solidFill>
                <a:effectLst/>
                <a:latin typeface="+mj-lt"/>
                <a:ea typeface="Times New Roman" panose="02020603050405020304" pitchFamily="18" charset="0"/>
                <a:cs typeface="Arial" panose="020B0604020202020204" pitchFamily="34" charset="0"/>
              </a:rPr>
              <a:t>Analyse</a:t>
            </a:r>
            <a:r>
              <a:rPr lang="en-GB" sz="1800" dirty="0">
                <a:solidFill>
                  <a:srgbClr val="1F1F1F"/>
                </a:solidFill>
                <a:effectLst/>
                <a:latin typeface="+mj-lt"/>
                <a:ea typeface="Times New Roman" panose="02020603050405020304" pitchFamily="18" charset="0"/>
              </a:rPr>
              <a:t>: Data exploration, visualization, and analysis</a:t>
            </a:r>
            <a:endParaRPr lang="en-US" sz="1800" dirty="0">
              <a:effectLst/>
              <a:latin typeface="+mj-lt"/>
              <a:ea typeface="Times New Roman" panose="02020603050405020304" pitchFamily="18" charset="0"/>
            </a:endParaRPr>
          </a:p>
          <a:p>
            <a:pPr marL="342900" marR="0" lvl="0" indent="-342900">
              <a:lnSpc>
                <a:spcPct val="150000"/>
              </a:lnSpc>
              <a:spcBef>
                <a:spcPts val="0"/>
              </a:spcBef>
              <a:spcAft>
                <a:spcPts val="0"/>
              </a:spcAft>
              <a:tabLst>
                <a:tab pos="457200" algn="l"/>
              </a:tabLst>
            </a:pPr>
            <a:r>
              <a:rPr lang="en-GB" sz="1800" b="1" dirty="0">
                <a:solidFill>
                  <a:srgbClr val="1F1F1F"/>
                </a:solidFill>
                <a:effectLst/>
                <a:latin typeface="+mj-lt"/>
                <a:ea typeface="Times New Roman" panose="02020603050405020304" pitchFamily="18" charset="0"/>
                <a:cs typeface="Arial" panose="020B0604020202020204" pitchFamily="34" charset="0"/>
              </a:rPr>
              <a:t>Share</a:t>
            </a:r>
            <a:r>
              <a:rPr lang="en-GB" sz="1800" dirty="0">
                <a:solidFill>
                  <a:srgbClr val="1F1F1F"/>
                </a:solidFill>
                <a:effectLst/>
                <a:latin typeface="+mj-lt"/>
                <a:ea typeface="Times New Roman" panose="02020603050405020304" pitchFamily="18" charset="0"/>
              </a:rPr>
              <a:t>: Communicating and interpreting results </a:t>
            </a:r>
            <a:endParaRPr lang="en-US" sz="1800" dirty="0">
              <a:effectLst/>
              <a:latin typeface="+mj-lt"/>
              <a:ea typeface="Times New Roman" panose="02020603050405020304" pitchFamily="18" charset="0"/>
            </a:endParaRPr>
          </a:p>
          <a:p>
            <a:pPr marL="342900" marR="0" lvl="0" indent="-342900">
              <a:lnSpc>
                <a:spcPct val="150000"/>
              </a:lnSpc>
              <a:spcBef>
                <a:spcPts val="0"/>
              </a:spcBef>
              <a:spcAft>
                <a:spcPts val="0"/>
              </a:spcAft>
              <a:tabLst>
                <a:tab pos="457200" algn="l"/>
              </a:tabLst>
            </a:pPr>
            <a:r>
              <a:rPr lang="en-GB" sz="1800" b="1" dirty="0">
                <a:solidFill>
                  <a:srgbClr val="1F1F1F"/>
                </a:solidFill>
                <a:effectLst/>
                <a:latin typeface="+mj-lt"/>
                <a:ea typeface="Times New Roman" panose="02020603050405020304" pitchFamily="18" charset="0"/>
                <a:cs typeface="Arial" panose="020B0604020202020204" pitchFamily="34" charset="0"/>
              </a:rPr>
              <a:t>Act</a:t>
            </a:r>
            <a:r>
              <a:rPr lang="en-GB" sz="1800" dirty="0">
                <a:solidFill>
                  <a:srgbClr val="1F1F1F"/>
                </a:solidFill>
                <a:effectLst/>
                <a:latin typeface="+mj-lt"/>
                <a:ea typeface="Times New Roman" panose="02020603050405020304" pitchFamily="18" charset="0"/>
              </a:rPr>
              <a:t>:  Putting your insights to work to solve the business problem</a:t>
            </a:r>
            <a:endParaRPr lang="en-US" sz="1800" dirty="0">
              <a:effectLst/>
              <a:latin typeface="+mj-lt"/>
              <a:ea typeface="Times New Roman" panose="02020603050405020304" pitchFamily="18" charset="0"/>
            </a:endParaRPr>
          </a:p>
        </p:txBody>
      </p:sp>
    </p:spTree>
    <p:extLst>
      <p:ext uri="{BB962C8B-B14F-4D97-AF65-F5344CB8AC3E}">
        <p14:creationId xmlns:p14="http://schemas.microsoft.com/office/powerpoint/2010/main" val="2220463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35678FF5-626F-0CA4-2F65-051A855881F0}"/>
              </a:ext>
            </a:extLst>
          </p:cNvPr>
          <p:cNvSpPr txBox="1"/>
          <p:nvPr/>
        </p:nvSpPr>
        <p:spPr>
          <a:xfrm>
            <a:off x="1191238" y="282305"/>
            <a:ext cx="9764784" cy="6062557"/>
          </a:xfrm>
          <a:prstGeom prst="rect">
            <a:avLst/>
          </a:prstGeom>
          <a:noFill/>
        </p:spPr>
        <p:txBody>
          <a:bodyPr wrap="square">
            <a:spAutoFit/>
          </a:bodyPr>
          <a:lstStyle/>
          <a:p>
            <a:pPr>
              <a:lnSpc>
                <a:spcPct val="150000"/>
              </a:lnSpc>
              <a:spcAft>
                <a:spcPts val="800"/>
              </a:spcAft>
            </a:pPr>
            <a:r>
              <a:rPr lang="en-US" sz="2000" b="1" dirty="0">
                <a:effectLst/>
                <a:latin typeface="+mj-lt"/>
                <a:ea typeface="Times New Roman" panose="02020603050405020304" pitchFamily="18" charset="0"/>
              </a:rPr>
              <a:t>Ask: </a:t>
            </a:r>
            <a:r>
              <a:rPr lang="en-US" sz="1400" dirty="0">
                <a:effectLst/>
                <a:latin typeface="+mj-lt"/>
                <a:ea typeface="Times New Roman" panose="02020603050405020304" pitchFamily="18" charset="0"/>
              </a:rPr>
              <a:t>Now, Ask has to do with knowing the </a:t>
            </a:r>
            <a:r>
              <a:rPr lang="en-GB" sz="1400" dirty="0">
                <a:solidFill>
                  <a:srgbClr val="1F1F1F"/>
                </a:solidFill>
                <a:effectLst/>
                <a:latin typeface="+mj-lt"/>
                <a:ea typeface="Times New Roman" panose="02020603050405020304" pitchFamily="18" charset="0"/>
              </a:rPr>
              <a:t>Business Challenge and Objective. </a:t>
            </a:r>
            <a:r>
              <a:rPr lang="en-US" sz="1400" dirty="0">
                <a:solidFill>
                  <a:srgbClr val="333333"/>
                </a:solidFill>
                <a:latin typeface="Open Sans" panose="020B0606030504020204" pitchFamily="34" charset="0"/>
                <a:ea typeface="Times New Roman" panose="02020603050405020304" pitchFamily="18" charset="0"/>
              </a:rPr>
              <a:t>It</a:t>
            </a:r>
            <a:r>
              <a:rPr lang="en-US" sz="1400" b="0" i="0" dirty="0">
                <a:solidFill>
                  <a:srgbClr val="333333"/>
                </a:solidFill>
                <a:effectLst/>
                <a:latin typeface="Open Sans" panose="020B0606030504020204" pitchFamily="34" charset="0"/>
              </a:rPr>
              <a:t> is important is for the Analyst to know what he or she is going to do. Consequently, it is essential that the Analyst Asks Relevant Questions like </a:t>
            </a:r>
          </a:p>
          <a:p>
            <a:pPr marL="342900" indent="-342900">
              <a:lnSpc>
                <a:spcPct val="150000"/>
              </a:lnSpc>
              <a:spcAft>
                <a:spcPts val="800"/>
              </a:spcAft>
              <a:buAutoNum type="arabicPeriod"/>
            </a:pPr>
            <a:r>
              <a:rPr lang="en-US" sz="1400" b="0" i="0" dirty="0">
                <a:solidFill>
                  <a:srgbClr val="333333"/>
                </a:solidFill>
                <a:effectLst/>
                <a:latin typeface="Open Sans" panose="020B0606030504020204" pitchFamily="34" charset="0"/>
              </a:rPr>
              <a:t>What problem is the business having that you hope to solve?</a:t>
            </a:r>
          </a:p>
          <a:p>
            <a:pPr marL="342900" indent="-342900">
              <a:lnSpc>
                <a:spcPct val="150000"/>
              </a:lnSpc>
              <a:spcAft>
                <a:spcPts val="800"/>
              </a:spcAft>
              <a:buAutoNum type="arabicPeriod"/>
            </a:pPr>
            <a:r>
              <a:rPr lang="en-US" sz="1400" b="0" i="0" dirty="0">
                <a:solidFill>
                  <a:srgbClr val="333333"/>
                </a:solidFill>
                <a:effectLst/>
                <a:latin typeface="Open Sans" panose="020B0606030504020204" pitchFamily="34" charset="0"/>
              </a:rPr>
              <a:t> If applicable, What is the business doing at present to alleviate or solve the issue? </a:t>
            </a:r>
          </a:p>
          <a:p>
            <a:pPr marL="342900" indent="-342900">
              <a:lnSpc>
                <a:spcPct val="150000"/>
              </a:lnSpc>
              <a:spcAft>
                <a:spcPts val="800"/>
              </a:spcAft>
              <a:buAutoNum type="arabicPeriod"/>
            </a:pPr>
            <a:r>
              <a:rPr lang="en-US" sz="1400" b="0" i="0" dirty="0">
                <a:solidFill>
                  <a:srgbClr val="333333"/>
                </a:solidFill>
                <a:effectLst/>
                <a:latin typeface="Open Sans" panose="020B0606030504020204" pitchFamily="34" charset="0"/>
              </a:rPr>
              <a:t>What inside resources will the project be utilizing? What outside resources will be necessary? You will want to determine where your help, team players, and stakeholders are coming from and how they are going to be affected by the project. </a:t>
            </a:r>
          </a:p>
          <a:p>
            <a:pPr marL="342900" indent="-342900">
              <a:lnSpc>
                <a:spcPct val="150000"/>
              </a:lnSpc>
              <a:spcAft>
                <a:spcPts val="800"/>
              </a:spcAft>
              <a:buAutoNum type="arabicPeriod"/>
            </a:pPr>
            <a:r>
              <a:rPr lang="en-US" sz="1400" b="0" i="0" dirty="0">
                <a:solidFill>
                  <a:srgbClr val="333333"/>
                </a:solidFill>
                <a:effectLst/>
                <a:latin typeface="Open Sans" panose="020B0606030504020204" pitchFamily="34" charset="0"/>
              </a:rPr>
              <a:t> What risks do you foresee? This is crucial because A conservative client may not be inclined to take large risks. Getting them to be specific can help, when generating the project program. You may also be able to overcome some of their fears or doubts by explaining the risk factor more thoroughly.</a:t>
            </a:r>
          </a:p>
          <a:p>
            <a:pPr algn="l" fontAlgn="auto">
              <a:lnSpc>
                <a:spcPct val="150000"/>
              </a:lnSpc>
            </a:pPr>
            <a:r>
              <a:rPr lang="en-US" sz="1600" b="0" i="1" dirty="0">
                <a:effectLst/>
                <a:latin typeface="Georgia" panose="02040502050405020303" pitchFamily="18" charset="0"/>
              </a:rPr>
              <a:t>5. Lastly, If a data product</a:t>
            </a:r>
            <a:r>
              <a:rPr lang="en-US" sz="1600" i="1" dirty="0">
                <a:latin typeface="Georgia" panose="02040502050405020303" pitchFamily="18" charset="0"/>
              </a:rPr>
              <a:t> or</a:t>
            </a:r>
            <a:r>
              <a:rPr lang="en-US" sz="1600" b="0" i="1" dirty="0">
                <a:effectLst/>
                <a:latin typeface="Georgia" panose="02040502050405020303" pitchFamily="18" charset="0"/>
              </a:rPr>
              <a:t> process works at its bests, what would be the outcome?</a:t>
            </a:r>
            <a:endParaRPr lang="en-US" sz="1600" b="0" i="0" dirty="0">
              <a:effectLst/>
              <a:latin typeface="Source Serif Pro" panose="020B0604020202020204" pitchFamily="18" charset="0"/>
            </a:endParaRPr>
          </a:p>
          <a:p>
            <a:pPr algn="l" fontAlgn="auto">
              <a:lnSpc>
                <a:spcPct val="150000"/>
              </a:lnSpc>
            </a:pPr>
            <a:r>
              <a:rPr lang="en-US" sz="1600" b="0" i="0" dirty="0">
                <a:effectLst/>
                <a:latin typeface="Source Serif Pro" panose="020B0604020202020204" pitchFamily="18" charset="0"/>
              </a:rPr>
              <a:t>This question positively approaches business challenges and encourages problem-solving. </a:t>
            </a:r>
          </a:p>
          <a:p>
            <a:pPr algn="l" fontAlgn="auto">
              <a:lnSpc>
                <a:spcPct val="150000"/>
              </a:lnSpc>
            </a:pPr>
            <a:r>
              <a:rPr lang="en-US" sz="1600" b="0" i="0" dirty="0">
                <a:effectLst/>
                <a:latin typeface="Source Serif Pro" panose="020B0604020202020204" pitchFamily="18" charset="0"/>
              </a:rPr>
              <a:t>Stakeholders will then set out solution priorities and success definitions. </a:t>
            </a:r>
          </a:p>
          <a:p>
            <a:pPr algn="l" fontAlgn="auto">
              <a:lnSpc>
                <a:spcPct val="150000"/>
              </a:lnSpc>
            </a:pPr>
            <a:r>
              <a:rPr lang="en-US" sz="1600" b="0" i="0" dirty="0">
                <a:effectLst/>
                <a:latin typeface="Source Serif Pro" panose="020B0604020202020204" pitchFamily="18" charset="0"/>
              </a:rPr>
              <a:t>This question can also be used to brainstorm improvements, features, priorities, and business needs. </a:t>
            </a:r>
          </a:p>
          <a:p>
            <a:pPr marL="342900" indent="-342900">
              <a:lnSpc>
                <a:spcPct val="150000"/>
              </a:lnSpc>
              <a:spcAft>
                <a:spcPts val="800"/>
              </a:spcAft>
              <a:buAutoNum type="arabicPeriod"/>
            </a:pPr>
            <a:endParaRPr lang="en-US" sz="1400" dirty="0">
              <a:effectLst/>
              <a:latin typeface="+mj-lt"/>
              <a:ea typeface="Times New Roman" panose="02020603050405020304" pitchFamily="18" charset="0"/>
            </a:endParaRPr>
          </a:p>
        </p:txBody>
      </p:sp>
    </p:spTree>
    <p:extLst>
      <p:ext uri="{BB962C8B-B14F-4D97-AF65-F5344CB8AC3E}">
        <p14:creationId xmlns:p14="http://schemas.microsoft.com/office/powerpoint/2010/main" val="38752956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35678FF5-626F-0CA4-2F65-051A855881F0}"/>
              </a:ext>
            </a:extLst>
          </p:cNvPr>
          <p:cNvSpPr txBox="1"/>
          <p:nvPr/>
        </p:nvSpPr>
        <p:spPr>
          <a:xfrm>
            <a:off x="1191238" y="282305"/>
            <a:ext cx="8774883" cy="963469"/>
          </a:xfrm>
          <a:prstGeom prst="rect">
            <a:avLst/>
          </a:prstGeom>
          <a:noFill/>
        </p:spPr>
        <p:txBody>
          <a:bodyPr wrap="square">
            <a:spAutoFit/>
          </a:bodyPr>
          <a:lstStyle/>
          <a:p>
            <a:pPr marL="342900" marR="0" lvl="0" indent="-342900">
              <a:lnSpc>
                <a:spcPct val="150000"/>
              </a:lnSpc>
              <a:spcBef>
                <a:spcPts val="0"/>
              </a:spcBef>
              <a:spcAft>
                <a:spcPts val="0"/>
              </a:spcAft>
              <a:tabLst>
                <a:tab pos="457200" algn="l"/>
              </a:tabLst>
            </a:pPr>
            <a:r>
              <a:rPr lang="en-GB" sz="2000" b="1" dirty="0">
                <a:solidFill>
                  <a:srgbClr val="1F1F1F"/>
                </a:solidFill>
                <a:effectLst/>
                <a:latin typeface="+mj-lt"/>
                <a:ea typeface="Times New Roman" panose="02020603050405020304" pitchFamily="18" charset="0"/>
                <a:cs typeface="Arial" panose="020B0604020202020204" pitchFamily="34" charset="0"/>
              </a:rPr>
              <a:t>Prepare</a:t>
            </a:r>
            <a:r>
              <a:rPr lang="en-GB" sz="2000" dirty="0">
                <a:solidFill>
                  <a:srgbClr val="1F1F1F"/>
                </a:solidFill>
                <a:effectLst/>
                <a:latin typeface="+mj-lt"/>
                <a:ea typeface="Times New Roman" panose="02020603050405020304" pitchFamily="18" charset="0"/>
              </a:rPr>
              <a:t>: Data generation, collection, storage, and data management.</a:t>
            </a:r>
          </a:p>
          <a:p>
            <a:pPr marL="342900" marR="0" lvl="0" indent="-342900">
              <a:lnSpc>
                <a:spcPct val="150000"/>
              </a:lnSpc>
              <a:spcBef>
                <a:spcPts val="0"/>
              </a:spcBef>
              <a:spcAft>
                <a:spcPts val="0"/>
              </a:spcAft>
              <a:tabLst>
                <a:tab pos="457200" algn="l"/>
              </a:tabLst>
            </a:pPr>
            <a:endParaRPr lang="en-US" sz="2000" dirty="0">
              <a:effectLst/>
              <a:latin typeface="+mj-lt"/>
              <a:ea typeface="Times New Roman" panose="02020603050405020304" pitchFamily="18" charset="0"/>
            </a:endParaRPr>
          </a:p>
        </p:txBody>
      </p:sp>
      <p:sp>
        <p:nvSpPr>
          <p:cNvPr id="3" name="TextBox 2">
            <a:extLst>
              <a:ext uri="{FF2B5EF4-FFF2-40B4-BE49-F238E27FC236}">
                <a16:creationId xmlns:a16="http://schemas.microsoft.com/office/drawing/2014/main" id="{081B8ABB-19D4-E988-6772-EC2B252F62C6}"/>
              </a:ext>
            </a:extLst>
          </p:cNvPr>
          <p:cNvSpPr txBox="1"/>
          <p:nvPr/>
        </p:nvSpPr>
        <p:spPr>
          <a:xfrm>
            <a:off x="866164" y="2272983"/>
            <a:ext cx="6094602" cy="830997"/>
          </a:xfrm>
          <a:prstGeom prst="rect">
            <a:avLst/>
          </a:prstGeom>
          <a:noFill/>
        </p:spPr>
        <p:txBody>
          <a:bodyPr wrap="square">
            <a:spAutoFit/>
          </a:bodyPr>
          <a:lstStyle/>
          <a:p>
            <a:r>
              <a:rPr lang="en-US" sz="1600" b="0" i="0" dirty="0">
                <a:effectLst/>
                <a:latin typeface="arial" panose="020B0604020202020204" pitchFamily="34" charset="0"/>
              </a:rPr>
              <a:t>Data generation comprises activities such as </a:t>
            </a:r>
            <a:r>
              <a:rPr lang="en-US" sz="1600" b="1" i="0" dirty="0">
                <a:effectLst/>
                <a:latin typeface="arial" panose="020B0604020202020204" pitchFamily="34" charset="0"/>
              </a:rPr>
              <a:t>searching for, focusing on, noting, selecting, extracting, and capturing data</a:t>
            </a:r>
            <a:r>
              <a:rPr lang="en-US" sz="1600" b="0" i="0" dirty="0">
                <a:effectLst/>
                <a:latin typeface="arial" panose="020B0604020202020204" pitchFamily="34" charset="0"/>
              </a:rPr>
              <a:t>. </a:t>
            </a:r>
            <a:endParaRPr lang="en-US" sz="1600" dirty="0"/>
          </a:p>
        </p:txBody>
      </p:sp>
      <p:sp>
        <p:nvSpPr>
          <p:cNvPr id="4" name="TextBox 3">
            <a:extLst>
              <a:ext uri="{FF2B5EF4-FFF2-40B4-BE49-F238E27FC236}">
                <a16:creationId xmlns:a16="http://schemas.microsoft.com/office/drawing/2014/main" id="{8605E787-B260-C10A-A742-DC8DD4B8873F}"/>
              </a:ext>
            </a:extLst>
          </p:cNvPr>
          <p:cNvSpPr txBox="1"/>
          <p:nvPr/>
        </p:nvSpPr>
        <p:spPr>
          <a:xfrm>
            <a:off x="866164" y="3140000"/>
            <a:ext cx="9762687" cy="2862322"/>
          </a:xfrm>
          <a:prstGeom prst="rect">
            <a:avLst/>
          </a:prstGeom>
          <a:noFill/>
        </p:spPr>
        <p:txBody>
          <a:bodyPr wrap="square" rtlCol="0">
            <a:spAutoFit/>
          </a:bodyPr>
          <a:lstStyle/>
          <a:p>
            <a:pPr algn="l"/>
            <a:r>
              <a:rPr lang="en-US" sz="1600" b="0" i="0" dirty="0">
                <a:effectLst/>
                <a:latin typeface="arial" panose="020B0604020202020204" pitchFamily="34" charset="0"/>
              </a:rPr>
              <a:t>In the era of the Internet of Things (IoT), </a:t>
            </a:r>
            <a:r>
              <a:rPr lang="en-US" sz="1600" b="1" i="0" dirty="0">
                <a:effectLst/>
                <a:latin typeface="arial" panose="020B0604020202020204" pitchFamily="34" charset="0"/>
              </a:rPr>
              <a:t>an enormous amount of sensing </a:t>
            </a:r>
          </a:p>
          <a:p>
            <a:pPr algn="l"/>
            <a:r>
              <a:rPr lang="en-US" sz="1600" b="1" i="0" dirty="0">
                <a:effectLst/>
                <a:latin typeface="arial" panose="020B0604020202020204" pitchFamily="34" charset="0"/>
              </a:rPr>
              <a:t>devices collect and/or generate various sensory data over time for a </a:t>
            </a:r>
          </a:p>
          <a:p>
            <a:pPr algn="l"/>
            <a:r>
              <a:rPr lang="en-US" sz="1600" b="1" i="0" dirty="0">
                <a:effectLst/>
                <a:latin typeface="arial" panose="020B0604020202020204" pitchFamily="34" charset="0"/>
              </a:rPr>
              <a:t>wide range of fields and applications</a:t>
            </a:r>
            <a:r>
              <a:rPr lang="en-US" sz="1600" b="0" i="0" dirty="0">
                <a:effectLst/>
                <a:latin typeface="arial" panose="020B0604020202020204" pitchFamily="34" charset="0"/>
              </a:rPr>
              <a:t>. Based on the nature of the application, </a:t>
            </a:r>
          </a:p>
          <a:p>
            <a:pPr algn="l"/>
            <a:r>
              <a:rPr lang="en-US" sz="1600" b="0" i="0" dirty="0">
                <a:effectLst/>
                <a:latin typeface="arial" panose="020B0604020202020204" pitchFamily="34" charset="0"/>
              </a:rPr>
              <a:t>these devices will result in big or fast/real-time data streams</a:t>
            </a:r>
            <a:r>
              <a:rPr lang="en-US" b="0" i="0" dirty="0">
                <a:effectLst/>
                <a:latin typeface="arial" panose="020B0604020202020204" pitchFamily="34" charset="0"/>
              </a:rPr>
              <a:t>.</a:t>
            </a:r>
          </a:p>
          <a:p>
            <a:pPr algn="l"/>
            <a:endParaRPr lang="en-US" b="0" i="0" dirty="0">
              <a:effectLst/>
              <a:latin typeface="arial" panose="020B0604020202020204" pitchFamily="34" charset="0"/>
            </a:endParaRPr>
          </a:p>
          <a:p>
            <a:pPr algn="l"/>
            <a:r>
              <a:rPr lang="en-US" dirty="0"/>
              <a:t>Applying analytics over such data streams to discover new information, predict future insights, and make decisions is a crucial process that makes IoT a worthy paradigm for businesses and a quality-of-life improving technology.</a:t>
            </a:r>
            <a:endParaRPr lang="en-US" b="0" i="0" dirty="0">
              <a:effectLst/>
              <a:latin typeface="arial" panose="020B0604020202020204" pitchFamily="34" charset="0"/>
            </a:endParaRPr>
          </a:p>
          <a:p>
            <a:br>
              <a:rPr lang="en-US" b="0" i="0" dirty="0">
                <a:effectLst/>
                <a:latin typeface="arial" panose="020B0604020202020204" pitchFamily="34" charset="0"/>
              </a:rPr>
            </a:br>
            <a:endParaRPr lang="en-US" dirty="0"/>
          </a:p>
        </p:txBody>
      </p:sp>
      <p:sp>
        <p:nvSpPr>
          <p:cNvPr id="5" name="TextBox 4">
            <a:extLst>
              <a:ext uri="{FF2B5EF4-FFF2-40B4-BE49-F238E27FC236}">
                <a16:creationId xmlns:a16="http://schemas.microsoft.com/office/drawing/2014/main" id="{FF8C3551-4F5B-639B-4D54-3043B59C8FDE}"/>
              </a:ext>
            </a:extLst>
          </p:cNvPr>
          <p:cNvSpPr txBox="1"/>
          <p:nvPr/>
        </p:nvSpPr>
        <p:spPr>
          <a:xfrm>
            <a:off x="866164" y="1630928"/>
            <a:ext cx="6451134" cy="400110"/>
          </a:xfrm>
          <a:prstGeom prst="rect">
            <a:avLst/>
          </a:prstGeom>
          <a:noFill/>
        </p:spPr>
        <p:txBody>
          <a:bodyPr wrap="square" rtlCol="0">
            <a:spAutoFit/>
          </a:bodyPr>
          <a:lstStyle/>
          <a:p>
            <a:r>
              <a:rPr lang="en-US" sz="2000" b="1" dirty="0"/>
              <a:t>DATA GENERATION</a:t>
            </a:r>
          </a:p>
        </p:txBody>
      </p:sp>
    </p:spTree>
    <p:extLst>
      <p:ext uri="{BB962C8B-B14F-4D97-AF65-F5344CB8AC3E}">
        <p14:creationId xmlns:p14="http://schemas.microsoft.com/office/powerpoint/2010/main" val="23407295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4B34961-AD15-25FB-EE1C-1C716F453A05}"/>
              </a:ext>
            </a:extLst>
          </p:cNvPr>
          <p:cNvSpPr txBox="1"/>
          <p:nvPr/>
        </p:nvSpPr>
        <p:spPr>
          <a:xfrm>
            <a:off x="492154" y="1359590"/>
            <a:ext cx="5162026" cy="4801314"/>
          </a:xfrm>
          <a:prstGeom prst="rect">
            <a:avLst/>
          </a:prstGeom>
          <a:noFill/>
        </p:spPr>
        <p:txBody>
          <a:bodyPr wrap="square" rtlCol="0">
            <a:spAutoFit/>
          </a:bodyPr>
          <a:lstStyle/>
          <a:p>
            <a:pPr algn="just">
              <a:lnSpc>
                <a:spcPct val="150000"/>
              </a:lnSpc>
            </a:pP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Data collection in business analytics is the systematic process of obtaining, measuring, and analyzing reliable data from a range of sources in order to find solutions to business problems, acquire actionable insights, test hypotheses and examine outcomes, as well as identify insights and predict future trends or events which are relevant for business growth and development </a:t>
            </a: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(Simplilearn, 2021). </a:t>
            </a:r>
          </a:p>
          <a:p>
            <a:pPr algn="just">
              <a:lnSpc>
                <a:spcPct val="150000"/>
              </a:lnSpc>
            </a:pPr>
            <a:r>
              <a:rPr lang="en-US"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Alternatively, Data Collection can also be defined as the process of acquiring data for corporate decision-making, strategic planning, research, and other objectives which is an important component of data analytics initiatives and research (Stedman, &amp; McLaughlin, 2022).</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1600" dirty="0"/>
          </a:p>
        </p:txBody>
      </p:sp>
      <p:sp>
        <p:nvSpPr>
          <p:cNvPr id="4" name="TextBox 3">
            <a:extLst>
              <a:ext uri="{FF2B5EF4-FFF2-40B4-BE49-F238E27FC236}">
                <a16:creationId xmlns:a16="http://schemas.microsoft.com/office/drawing/2014/main" id="{9D056326-7FE4-0868-631D-DD5B0431A3E7}"/>
              </a:ext>
            </a:extLst>
          </p:cNvPr>
          <p:cNvSpPr txBox="1"/>
          <p:nvPr/>
        </p:nvSpPr>
        <p:spPr>
          <a:xfrm>
            <a:off x="492154" y="528506"/>
            <a:ext cx="4974672" cy="369332"/>
          </a:xfrm>
          <a:prstGeom prst="rect">
            <a:avLst/>
          </a:prstGeom>
          <a:noFill/>
        </p:spPr>
        <p:txBody>
          <a:bodyPr wrap="square" rtlCol="0">
            <a:spAutoFit/>
          </a:bodyPr>
          <a:lstStyle/>
          <a:p>
            <a:r>
              <a:rPr lang="en-US" b="1" dirty="0"/>
              <a:t>DATA COLLECTION</a:t>
            </a:r>
          </a:p>
        </p:txBody>
      </p:sp>
      <p:sp>
        <p:nvSpPr>
          <p:cNvPr id="5" name="TextBox 4">
            <a:extLst>
              <a:ext uri="{FF2B5EF4-FFF2-40B4-BE49-F238E27FC236}">
                <a16:creationId xmlns:a16="http://schemas.microsoft.com/office/drawing/2014/main" id="{3E906DE9-EB8B-42AC-FEDD-E9B8EFF08CEC}"/>
              </a:ext>
            </a:extLst>
          </p:cNvPr>
          <p:cNvSpPr txBox="1"/>
          <p:nvPr/>
        </p:nvSpPr>
        <p:spPr>
          <a:xfrm>
            <a:off x="5944999" y="1359590"/>
            <a:ext cx="5925424" cy="4939814"/>
          </a:xfrm>
          <a:prstGeom prst="rect">
            <a:avLst/>
          </a:prstGeom>
          <a:noFill/>
        </p:spPr>
        <p:txBody>
          <a:bodyPr wrap="square" rtlCol="0">
            <a:spAutoFit/>
          </a:bodyPr>
          <a:lstStyle/>
          <a:p>
            <a:pPr algn="just">
              <a:lnSpc>
                <a:spcPct val="150000"/>
              </a:lnSpc>
            </a:pPr>
            <a:r>
              <a:rPr lang="en-US" sz="180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Moreover, it is pertinent that data analysts identify reliable data sources, data types, and data collection procedures during data gathering as it promotes good decision-making, and maintain research integrity. Besides, it's critical to make sure your data is accurate and obtained legally and ethically throughout the collecting process (Cote, 2021). Consequently, significant costs that emanate due to erroneous data collection include the inability to validate the data sources or data types, inaccurate outcomes or insights resulting in wasted resources, as well as misleading management to pursue unproductive business decisions. </a:t>
            </a:r>
            <a:endParaRPr lang="en-US" sz="180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6696367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33D06D-3CCF-E645-F73B-8722A5F56E72}"/>
              </a:ext>
            </a:extLst>
          </p:cNvPr>
          <p:cNvSpPr txBox="1"/>
          <p:nvPr/>
        </p:nvSpPr>
        <p:spPr>
          <a:xfrm>
            <a:off x="1291906" y="1359590"/>
            <a:ext cx="6895749" cy="4150367"/>
          </a:xfrm>
          <a:prstGeom prst="rect">
            <a:avLst/>
          </a:prstGeom>
          <a:noFill/>
        </p:spPr>
        <p:txBody>
          <a:bodyPr wrap="square" rtlCol="0">
            <a:spAutoFit/>
          </a:bodyPr>
          <a:lstStyle/>
          <a:p>
            <a:pPr algn="just">
              <a:lnSpc>
                <a:spcPct val="150000"/>
              </a:lnSpc>
            </a:pPr>
            <a:r>
              <a:rPr lang="en-US" sz="160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In organizations and businesses around the world, data is collected at all levels and services such as</a:t>
            </a:r>
            <a:r>
              <a:rPr lang="en-US" sz="1600" spc="5"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 customer management services, marketing services, sales management, consulting, etc.</a:t>
            </a:r>
            <a:r>
              <a:rPr lang="en-US" sz="160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 </a:t>
            </a:r>
          </a:p>
          <a:p>
            <a:pPr algn="just">
              <a:lnSpc>
                <a:spcPct val="150000"/>
              </a:lnSpc>
            </a:pPr>
            <a:r>
              <a:rPr lang="en-US" sz="160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Moreover, when businesses are conducted and transactions are made, data analysts collect data of clients, staff, sales, inventory and other elements of corporate operations. Additionally, customers' inputs are gathered through surveys, questionnaires, and social media monitoring. Thereafter, business data analysts and data scientists gather relevant data from internal systems and external data sources to examine and </a:t>
            </a:r>
            <a:r>
              <a:rPr lang="en-GB" sz="160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transform into actionable insights that inform an organization’s business decisions </a:t>
            </a:r>
            <a:r>
              <a:rPr lang="en-US" sz="160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(Stedman, &amp; McLaughlin, 2022)</a:t>
            </a:r>
            <a:r>
              <a:rPr lang="en-GB" sz="160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60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pPr>
            <a:endParaRPr lang="en-US" dirty="0">
              <a:solidFill>
                <a:srgbClr val="C00000"/>
              </a:solidFill>
            </a:endParaRPr>
          </a:p>
        </p:txBody>
      </p:sp>
      <p:sp>
        <p:nvSpPr>
          <p:cNvPr id="3" name="TextBox 2">
            <a:extLst>
              <a:ext uri="{FF2B5EF4-FFF2-40B4-BE49-F238E27FC236}">
                <a16:creationId xmlns:a16="http://schemas.microsoft.com/office/drawing/2014/main" id="{7B1A3E26-9F8D-6967-911D-2E534BE35BB9}"/>
              </a:ext>
            </a:extLst>
          </p:cNvPr>
          <p:cNvSpPr txBox="1"/>
          <p:nvPr/>
        </p:nvSpPr>
        <p:spPr>
          <a:xfrm>
            <a:off x="492154" y="528506"/>
            <a:ext cx="4974672" cy="369332"/>
          </a:xfrm>
          <a:prstGeom prst="rect">
            <a:avLst/>
          </a:prstGeom>
          <a:noFill/>
        </p:spPr>
        <p:txBody>
          <a:bodyPr wrap="square" rtlCol="0">
            <a:spAutoFit/>
          </a:bodyPr>
          <a:lstStyle/>
          <a:p>
            <a:r>
              <a:rPr lang="en-US" b="1" dirty="0"/>
              <a:t>DATA COLLECTION</a:t>
            </a:r>
          </a:p>
        </p:txBody>
      </p:sp>
    </p:spTree>
    <p:extLst>
      <p:ext uri="{BB962C8B-B14F-4D97-AF65-F5344CB8AC3E}">
        <p14:creationId xmlns:p14="http://schemas.microsoft.com/office/powerpoint/2010/main" val="26708930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44518C4-3CCB-26AD-A056-212F7DA887EB}"/>
              </a:ext>
            </a:extLst>
          </p:cNvPr>
          <p:cNvSpPr txBox="1"/>
          <p:nvPr/>
        </p:nvSpPr>
        <p:spPr>
          <a:xfrm>
            <a:off x="874552" y="1496921"/>
            <a:ext cx="5945698" cy="2534412"/>
          </a:xfrm>
          <a:prstGeom prst="rect">
            <a:avLst/>
          </a:prstGeom>
          <a:noFill/>
        </p:spPr>
        <p:txBody>
          <a:bodyPr wrap="square">
            <a:spAutoFit/>
          </a:bodyPr>
          <a:lstStyle/>
          <a:p>
            <a:pPr>
              <a:lnSpc>
                <a:spcPct val="150000"/>
              </a:lnSpc>
            </a:pPr>
            <a:r>
              <a:rPr lang="en-US" b="0" i="0" dirty="0">
                <a:effectLst/>
                <a:latin typeface="arial" panose="020B0604020202020204" pitchFamily="34" charset="0"/>
              </a:rPr>
              <a:t>is </a:t>
            </a:r>
            <a:r>
              <a:rPr lang="en-US" b="1" i="0" dirty="0">
                <a:effectLst/>
                <a:latin typeface="arial" panose="020B0604020202020204" pitchFamily="34" charset="0"/>
              </a:rPr>
              <a:t>the practice of collecting, organizing, protecting, and storing an organization's data so it can be analyzed for business decisions</a:t>
            </a:r>
            <a:r>
              <a:rPr lang="en-US" b="0" i="0" dirty="0">
                <a:effectLst/>
                <a:latin typeface="arial" panose="020B0604020202020204" pitchFamily="34" charset="0"/>
              </a:rPr>
              <a:t>. As organizations create and consume data at unprecedented rates, data management solutions become essential for making sense of the vast quantities of data.</a:t>
            </a:r>
            <a:endParaRPr lang="en-US" dirty="0"/>
          </a:p>
        </p:txBody>
      </p:sp>
      <p:sp>
        <p:nvSpPr>
          <p:cNvPr id="4" name="TextBox 3">
            <a:extLst>
              <a:ext uri="{FF2B5EF4-FFF2-40B4-BE49-F238E27FC236}">
                <a16:creationId xmlns:a16="http://schemas.microsoft.com/office/drawing/2014/main" id="{A176D213-2634-1ACD-AFC1-5E4E9BD1103E}"/>
              </a:ext>
            </a:extLst>
          </p:cNvPr>
          <p:cNvSpPr txBox="1"/>
          <p:nvPr/>
        </p:nvSpPr>
        <p:spPr>
          <a:xfrm>
            <a:off x="7290033" y="1166070"/>
            <a:ext cx="4697835" cy="2950038"/>
          </a:xfrm>
          <a:prstGeom prst="rect">
            <a:avLst/>
          </a:prstGeom>
          <a:noFill/>
        </p:spPr>
        <p:txBody>
          <a:bodyPr wrap="square" rtlCol="0">
            <a:spAutoFit/>
          </a:bodyPr>
          <a:lstStyle/>
          <a:p>
            <a:pPr algn="l">
              <a:lnSpc>
                <a:spcPct val="150000"/>
              </a:lnSpc>
            </a:pPr>
            <a:r>
              <a:rPr lang="en-US" b="1" i="0" dirty="0">
                <a:effectLst/>
                <a:latin typeface="arial" panose="020B0604020202020204" pitchFamily="34" charset="0"/>
              </a:rPr>
              <a:t>4 types of data management systems</a:t>
            </a:r>
            <a:endParaRPr lang="en-US" b="0" i="0" dirty="0">
              <a:effectLst/>
              <a:latin typeface="arial" panose="020B0604020202020204" pitchFamily="34" charset="0"/>
            </a:endParaRPr>
          </a:p>
          <a:p>
            <a:pPr algn="l">
              <a:lnSpc>
                <a:spcPct val="150000"/>
              </a:lnSpc>
              <a:buFont typeface="Arial" panose="020B0604020202020204" pitchFamily="34" charset="0"/>
              <a:buChar char="•"/>
            </a:pPr>
            <a:r>
              <a:rPr lang="en-US" b="0" i="0" dirty="0">
                <a:effectLst/>
                <a:latin typeface="arial" panose="020B0604020202020204" pitchFamily="34" charset="0"/>
              </a:rPr>
              <a:t>Customer Relationship Management System or CRM. ...</a:t>
            </a:r>
          </a:p>
          <a:p>
            <a:pPr algn="l">
              <a:lnSpc>
                <a:spcPct val="150000"/>
              </a:lnSpc>
              <a:buFont typeface="Arial" panose="020B0604020202020204" pitchFamily="34" charset="0"/>
              <a:buChar char="•"/>
            </a:pPr>
            <a:r>
              <a:rPr lang="en-US" b="0" i="0" dirty="0">
                <a:effectLst/>
                <a:latin typeface="arial" panose="020B0604020202020204" pitchFamily="34" charset="0"/>
              </a:rPr>
              <a:t>Marketing technology systems. ...</a:t>
            </a:r>
          </a:p>
          <a:p>
            <a:pPr algn="l">
              <a:lnSpc>
                <a:spcPct val="150000"/>
              </a:lnSpc>
              <a:buFont typeface="Arial" panose="020B0604020202020204" pitchFamily="34" charset="0"/>
              <a:buChar char="•"/>
            </a:pPr>
            <a:r>
              <a:rPr lang="en-US" b="0" i="0" dirty="0">
                <a:effectLst/>
                <a:latin typeface="arial" panose="020B0604020202020204" pitchFamily="34" charset="0"/>
              </a:rPr>
              <a:t>Data Warehouse systems. ...</a:t>
            </a:r>
          </a:p>
          <a:p>
            <a:pPr algn="l">
              <a:lnSpc>
                <a:spcPct val="150000"/>
              </a:lnSpc>
              <a:buFont typeface="Arial" panose="020B0604020202020204" pitchFamily="34" charset="0"/>
              <a:buChar char="•"/>
            </a:pPr>
            <a:r>
              <a:rPr lang="en-US" b="0" i="0" dirty="0">
                <a:effectLst/>
                <a:latin typeface="arial" panose="020B0604020202020204" pitchFamily="34" charset="0"/>
              </a:rPr>
              <a:t>Analytics tools</a:t>
            </a:r>
          </a:p>
          <a:p>
            <a:pPr>
              <a:lnSpc>
                <a:spcPct val="150000"/>
              </a:lnSpc>
            </a:pPr>
            <a:endParaRPr lang="en-US" dirty="0"/>
          </a:p>
        </p:txBody>
      </p:sp>
      <p:sp>
        <p:nvSpPr>
          <p:cNvPr id="5" name="TextBox 4">
            <a:extLst>
              <a:ext uri="{FF2B5EF4-FFF2-40B4-BE49-F238E27FC236}">
                <a16:creationId xmlns:a16="http://schemas.microsoft.com/office/drawing/2014/main" id="{0DE63059-124C-F87F-C908-EF7F5CAD8488}"/>
              </a:ext>
            </a:extLst>
          </p:cNvPr>
          <p:cNvSpPr txBox="1"/>
          <p:nvPr/>
        </p:nvSpPr>
        <p:spPr>
          <a:xfrm>
            <a:off x="3847401" y="4176275"/>
            <a:ext cx="6761527" cy="2523768"/>
          </a:xfrm>
          <a:prstGeom prst="rect">
            <a:avLst/>
          </a:prstGeom>
          <a:noFill/>
        </p:spPr>
        <p:txBody>
          <a:bodyPr wrap="square" rtlCol="0">
            <a:spAutoFit/>
          </a:bodyPr>
          <a:lstStyle/>
          <a:p>
            <a:pPr algn="l"/>
            <a:r>
              <a:rPr lang="en-US" sz="2000" b="1" i="0" dirty="0">
                <a:solidFill>
                  <a:srgbClr val="FF0000"/>
                </a:solidFill>
                <a:effectLst/>
                <a:latin typeface="arial" panose="020B0604020202020204" pitchFamily="34" charset="0"/>
              </a:rPr>
              <a:t>What are data management skills?</a:t>
            </a:r>
          </a:p>
          <a:p>
            <a:pPr algn="l"/>
            <a:r>
              <a:rPr lang="en-US" sz="2000" b="0" i="0" dirty="0">
                <a:effectLst/>
                <a:latin typeface="arial" panose="020B0604020202020204" pitchFamily="34" charset="0"/>
              </a:rPr>
              <a:t>Data management skills are </a:t>
            </a:r>
            <a:r>
              <a:rPr lang="en-US" sz="2000" b="1" i="0" dirty="0">
                <a:effectLst/>
                <a:latin typeface="arial" panose="020B0604020202020204" pitchFamily="34" charset="0"/>
              </a:rPr>
              <a:t>the abilities you use to effectively manage and use information</a:t>
            </a:r>
            <a:r>
              <a:rPr lang="en-US" sz="2000" b="0" i="0" dirty="0">
                <a:effectLst/>
                <a:latin typeface="arial" panose="020B0604020202020204" pitchFamily="34" charset="0"/>
              </a:rPr>
              <a:t>. Data management skills involve looking for patterns, understanding database design concepts and being able to participate in short and long-term planning about database projects.</a:t>
            </a:r>
          </a:p>
          <a:p>
            <a:endParaRPr lang="en-US" dirty="0"/>
          </a:p>
        </p:txBody>
      </p:sp>
      <p:sp>
        <p:nvSpPr>
          <p:cNvPr id="2" name="TextBox 1">
            <a:extLst>
              <a:ext uri="{FF2B5EF4-FFF2-40B4-BE49-F238E27FC236}">
                <a16:creationId xmlns:a16="http://schemas.microsoft.com/office/drawing/2014/main" id="{63D46BE2-CC34-5EDA-D11D-3BEB3C261E34}"/>
              </a:ext>
            </a:extLst>
          </p:cNvPr>
          <p:cNvSpPr txBox="1"/>
          <p:nvPr/>
        </p:nvSpPr>
        <p:spPr>
          <a:xfrm>
            <a:off x="94377" y="815698"/>
            <a:ext cx="5425580" cy="461665"/>
          </a:xfrm>
          <a:prstGeom prst="rect">
            <a:avLst/>
          </a:prstGeom>
          <a:noFill/>
        </p:spPr>
        <p:txBody>
          <a:bodyPr wrap="square" rtlCol="0">
            <a:spAutoFit/>
          </a:bodyPr>
          <a:lstStyle/>
          <a:p>
            <a:r>
              <a:rPr lang="en-US" sz="2400" dirty="0"/>
              <a:t>Finally, Data Management </a:t>
            </a:r>
          </a:p>
        </p:txBody>
      </p:sp>
    </p:spTree>
    <p:extLst>
      <p:ext uri="{BB962C8B-B14F-4D97-AF65-F5344CB8AC3E}">
        <p14:creationId xmlns:p14="http://schemas.microsoft.com/office/powerpoint/2010/main" val="15070491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073E72E-D7E9-EE08-DB06-F5C9830E190A}"/>
              </a:ext>
            </a:extLst>
          </p:cNvPr>
          <p:cNvSpPr txBox="1"/>
          <p:nvPr/>
        </p:nvSpPr>
        <p:spPr>
          <a:xfrm>
            <a:off x="1031846" y="1828800"/>
            <a:ext cx="7122253" cy="3693319"/>
          </a:xfrm>
          <a:prstGeom prst="rect">
            <a:avLst/>
          </a:prstGeom>
          <a:noFill/>
        </p:spPr>
        <p:txBody>
          <a:bodyPr wrap="square" rtlCol="0">
            <a:spAutoFit/>
          </a:bodyPr>
          <a:lstStyle/>
          <a:p>
            <a:pPr algn="l"/>
            <a:r>
              <a:rPr lang="en-US" b="1" i="0" dirty="0">
                <a:solidFill>
                  <a:srgbClr val="333333"/>
                </a:solidFill>
                <a:effectLst/>
                <a:latin typeface="proxima-nova"/>
              </a:rPr>
              <a:t>Why Does the Data Processing Method Matter?</a:t>
            </a:r>
          </a:p>
          <a:p>
            <a:pPr algn="l"/>
            <a:endParaRPr lang="en-US" b="1" i="0" dirty="0">
              <a:solidFill>
                <a:srgbClr val="333333"/>
              </a:solidFill>
              <a:effectLst/>
              <a:latin typeface="proxima-nova"/>
            </a:endParaRPr>
          </a:p>
          <a:p>
            <a:pPr algn="l"/>
            <a:r>
              <a:rPr lang="en-US" b="0" i="0" dirty="0">
                <a:solidFill>
                  <a:srgbClr val="4C4C4C"/>
                </a:solidFill>
                <a:effectLst/>
                <a:latin typeface="proxima-nova"/>
              </a:rPr>
              <a:t>The method of data processing you employ will determine the response time to a query and how reliable the output is. Thus, the method needs to be chosen carefully. For instance, in a situation where availability is crucial, such as a stock exchange portal, transaction processing should be the preferred method.</a:t>
            </a:r>
          </a:p>
          <a:p>
            <a:pPr algn="l"/>
            <a:endParaRPr lang="en-US" b="0" i="0" dirty="0">
              <a:solidFill>
                <a:srgbClr val="4C4C4C"/>
              </a:solidFill>
              <a:effectLst/>
              <a:latin typeface="proxima-nova"/>
            </a:endParaRPr>
          </a:p>
          <a:p>
            <a:pPr algn="l"/>
            <a:r>
              <a:rPr lang="en-US" b="0" i="0" dirty="0">
                <a:solidFill>
                  <a:srgbClr val="4C4C4C"/>
                </a:solidFill>
                <a:effectLst/>
                <a:latin typeface="proxima-nova"/>
              </a:rPr>
              <a:t>It is important to note the difference between data processing and a data processing system. Data processing is the rules by which data is converted into useful information. A data processing system is an application that is optimized for a certain type of data processing.</a:t>
            </a:r>
          </a:p>
          <a:p>
            <a:endParaRPr lang="en-US" dirty="0"/>
          </a:p>
        </p:txBody>
      </p:sp>
      <p:sp>
        <p:nvSpPr>
          <p:cNvPr id="3" name="TextBox 2">
            <a:extLst>
              <a:ext uri="{FF2B5EF4-FFF2-40B4-BE49-F238E27FC236}">
                <a16:creationId xmlns:a16="http://schemas.microsoft.com/office/drawing/2014/main" id="{B7B3D7B4-90A0-3080-B123-49B52EBD666F}"/>
              </a:ext>
            </a:extLst>
          </p:cNvPr>
          <p:cNvSpPr txBox="1"/>
          <p:nvPr/>
        </p:nvSpPr>
        <p:spPr>
          <a:xfrm>
            <a:off x="545284" y="645952"/>
            <a:ext cx="5217953" cy="369332"/>
          </a:xfrm>
          <a:prstGeom prst="rect">
            <a:avLst/>
          </a:prstGeom>
          <a:noFill/>
        </p:spPr>
        <p:txBody>
          <a:bodyPr wrap="square" rtlCol="0">
            <a:spAutoFit/>
          </a:bodyPr>
          <a:lstStyle/>
          <a:p>
            <a:r>
              <a:rPr lang="en-US" b="1" dirty="0"/>
              <a:t>Data Processing</a:t>
            </a:r>
          </a:p>
        </p:txBody>
      </p:sp>
    </p:spTree>
    <p:extLst>
      <p:ext uri="{BB962C8B-B14F-4D97-AF65-F5344CB8AC3E}">
        <p14:creationId xmlns:p14="http://schemas.microsoft.com/office/powerpoint/2010/main" val="28109687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1E54791-D57B-95A5-CE06-30C03395D506}"/>
              </a:ext>
            </a:extLst>
          </p:cNvPr>
          <p:cNvSpPr txBox="1"/>
          <p:nvPr/>
        </p:nvSpPr>
        <p:spPr>
          <a:xfrm>
            <a:off x="872455" y="830510"/>
            <a:ext cx="5318620" cy="1200329"/>
          </a:xfrm>
          <a:prstGeom prst="rect">
            <a:avLst/>
          </a:prstGeom>
          <a:noFill/>
        </p:spPr>
        <p:txBody>
          <a:bodyPr wrap="square" rtlCol="0">
            <a:spAutoFit/>
          </a:bodyPr>
          <a:lstStyle/>
          <a:p>
            <a:r>
              <a:rPr lang="en-US" b="1" i="0" dirty="0">
                <a:effectLst/>
                <a:latin typeface="arial" panose="020B0604020202020204" pitchFamily="34" charset="0"/>
              </a:rPr>
              <a:t>Data analysis</a:t>
            </a:r>
            <a:r>
              <a:rPr lang="en-US" b="0" i="0" dirty="0">
                <a:effectLst/>
                <a:latin typeface="arial" panose="020B0604020202020204" pitchFamily="34" charset="0"/>
              </a:rPr>
              <a:t> is a process of inspecting, cleansing, transforming, and modelling data with the goal of discovering useful information, informing conclusions</a:t>
            </a:r>
            <a:endParaRPr lang="en-US" dirty="0"/>
          </a:p>
        </p:txBody>
      </p:sp>
      <p:sp>
        <p:nvSpPr>
          <p:cNvPr id="3" name="TextBox 2">
            <a:extLst>
              <a:ext uri="{FF2B5EF4-FFF2-40B4-BE49-F238E27FC236}">
                <a16:creationId xmlns:a16="http://schemas.microsoft.com/office/drawing/2014/main" id="{53ED4E84-B307-F4BB-4FA4-EEF237D324C5}"/>
              </a:ext>
            </a:extLst>
          </p:cNvPr>
          <p:cNvSpPr txBox="1"/>
          <p:nvPr/>
        </p:nvSpPr>
        <p:spPr>
          <a:xfrm>
            <a:off x="872455" y="3221372"/>
            <a:ext cx="5956184" cy="923330"/>
          </a:xfrm>
          <a:prstGeom prst="rect">
            <a:avLst/>
          </a:prstGeom>
          <a:noFill/>
        </p:spPr>
        <p:txBody>
          <a:bodyPr wrap="square" rtlCol="0">
            <a:spAutoFit/>
          </a:bodyPr>
          <a:lstStyle/>
          <a:p>
            <a:r>
              <a:rPr lang="en-US" b="0" i="0" dirty="0">
                <a:effectLst/>
                <a:latin typeface="arial" panose="020B0604020202020204" pitchFamily="34" charset="0"/>
              </a:rPr>
              <a:t> </a:t>
            </a:r>
            <a:r>
              <a:rPr lang="en-US" b="1" i="0" dirty="0">
                <a:effectLst/>
                <a:latin typeface="arial" panose="020B0604020202020204" pitchFamily="34" charset="0"/>
              </a:rPr>
              <a:t>Data analysis</a:t>
            </a:r>
            <a:r>
              <a:rPr lang="en-US" b="0" i="0" dirty="0">
                <a:effectLst/>
                <a:latin typeface="arial" panose="020B0604020202020204" pitchFamily="34" charset="0"/>
              </a:rPr>
              <a:t> is the process of collecting, modeling, and analyzing data to extract insights that support decision-making. </a:t>
            </a:r>
            <a:endParaRPr lang="en-US" dirty="0"/>
          </a:p>
        </p:txBody>
      </p:sp>
    </p:spTree>
    <p:extLst>
      <p:ext uri="{BB962C8B-B14F-4D97-AF65-F5344CB8AC3E}">
        <p14:creationId xmlns:p14="http://schemas.microsoft.com/office/powerpoint/2010/main" val="39689283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F4B1365-9DC4-1B0C-7911-83B444085C84}"/>
              </a:ext>
            </a:extLst>
          </p:cNvPr>
          <p:cNvSpPr txBox="1"/>
          <p:nvPr/>
        </p:nvSpPr>
        <p:spPr>
          <a:xfrm>
            <a:off x="1352725" y="1685754"/>
            <a:ext cx="6094602" cy="1477328"/>
          </a:xfrm>
          <a:prstGeom prst="rect">
            <a:avLst/>
          </a:prstGeom>
          <a:noFill/>
        </p:spPr>
        <p:txBody>
          <a:bodyPr wrap="square">
            <a:spAutoFit/>
          </a:bodyPr>
          <a:lstStyle/>
          <a:p>
            <a:r>
              <a:rPr lang="en-GB" sz="1800" b="1" dirty="0"/>
              <a:t>Data visualization </a:t>
            </a:r>
            <a:r>
              <a:rPr lang="en-GB" sz="1800" dirty="0"/>
              <a:t>is the practice of translating information into a visual context, such as a graph or pivot tables, to make data easier to understand and develop insights from. The main goal of data visualization is </a:t>
            </a:r>
            <a:r>
              <a:rPr lang="en-GB" sz="1800" b="1" dirty="0"/>
              <a:t>to make it easier to identify patterns &amp; trends in large data sets</a:t>
            </a:r>
            <a:r>
              <a:rPr lang="en-GB" sz="1800" dirty="0"/>
              <a:t>.</a:t>
            </a:r>
            <a:endParaRPr lang="en-US" sz="1600" dirty="0">
              <a:cs typeface="Times New Roman" panose="02020603050405020304" pitchFamily="18" charset="0"/>
            </a:endParaRPr>
          </a:p>
        </p:txBody>
      </p:sp>
      <p:sp>
        <p:nvSpPr>
          <p:cNvPr id="4" name="TextBox 3">
            <a:extLst>
              <a:ext uri="{FF2B5EF4-FFF2-40B4-BE49-F238E27FC236}">
                <a16:creationId xmlns:a16="http://schemas.microsoft.com/office/drawing/2014/main" id="{37D355B2-9605-6412-8633-1B1878D686C8}"/>
              </a:ext>
            </a:extLst>
          </p:cNvPr>
          <p:cNvSpPr txBox="1"/>
          <p:nvPr/>
        </p:nvSpPr>
        <p:spPr>
          <a:xfrm>
            <a:off x="1285613" y="4009667"/>
            <a:ext cx="6094602" cy="923330"/>
          </a:xfrm>
          <a:prstGeom prst="rect">
            <a:avLst/>
          </a:prstGeom>
          <a:noFill/>
        </p:spPr>
        <p:txBody>
          <a:bodyPr wrap="square">
            <a:spAutoFit/>
          </a:bodyPr>
          <a:lstStyle/>
          <a:p>
            <a:r>
              <a:rPr lang="en-US" sz="1800" b="1" dirty="0">
                <a:cs typeface="Times New Roman" panose="02020603050405020304" pitchFamily="18" charset="0"/>
              </a:rPr>
              <a:t>Visualizations</a:t>
            </a:r>
            <a:r>
              <a:rPr lang="en-US" sz="1800" dirty="0">
                <a:cs typeface="Times New Roman" panose="02020603050405020304" pitchFamily="18" charset="0"/>
              </a:rPr>
              <a:t> allow data to be represented in different ways, leading to insights into data relationships that may not be easily seen.</a:t>
            </a:r>
          </a:p>
        </p:txBody>
      </p:sp>
    </p:spTree>
    <p:extLst>
      <p:ext uri="{BB962C8B-B14F-4D97-AF65-F5344CB8AC3E}">
        <p14:creationId xmlns:p14="http://schemas.microsoft.com/office/powerpoint/2010/main" val="14099817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D3CD2E4-B345-3D3E-8EAD-304D17B04CF9}"/>
              </a:ext>
            </a:extLst>
          </p:cNvPr>
          <p:cNvSpPr txBox="1"/>
          <p:nvPr/>
        </p:nvSpPr>
        <p:spPr>
          <a:xfrm>
            <a:off x="1853967" y="1979802"/>
            <a:ext cx="5201174" cy="923330"/>
          </a:xfrm>
          <a:prstGeom prst="rect">
            <a:avLst/>
          </a:prstGeom>
          <a:noFill/>
        </p:spPr>
        <p:txBody>
          <a:bodyPr wrap="square" rtlCol="0">
            <a:spAutoFit/>
          </a:bodyPr>
          <a:lstStyle/>
          <a:p>
            <a:r>
              <a:rPr lang="en-US" b="1" i="0" dirty="0">
                <a:effectLst/>
                <a:latin typeface="arial" panose="020B0604020202020204" pitchFamily="34" charset="0"/>
              </a:rPr>
              <a:t>Data interpretation</a:t>
            </a:r>
            <a:r>
              <a:rPr lang="en-US" b="0" i="0" dirty="0">
                <a:effectLst/>
                <a:latin typeface="arial" panose="020B0604020202020204" pitchFamily="34" charset="0"/>
              </a:rPr>
              <a:t> refers to the process of using diverse analytical methods to review data and arrive at relevant conclusion</a:t>
            </a:r>
            <a:endParaRPr lang="en-US" dirty="0"/>
          </a:p>
        </p:txBody>
      </p:sp>
      <p:sp>
        <p:nvSpPr>
          <p:cNvPr id="3" name="TextBox 2">
            <a:extLst>
              <a:ext uri="{FF2B5EF4-FFF2-40B4-BE49-F238E27FC236}">
                <a16:creationId xmlns:a16="http://schemas.microsoft.com/office/drawing/2014/main" id="{6A65CBEE-37A0-CBED-707F-E80C679C01C1}"/>
              </a:ext>
            </a:extLst>
          </p:cNvPr>
          <p:cNvSpPr txBox="1"/>
          <p:nvPr/>
        </p:nvSpPr>
        <p:spPr>
          <a:xfrm>
            <a:off x="1853967" y="3246539"/>
            <a:ext cx="5016616" cy="923330"/>
          </a:xfrm>
          <a:prstGeom prst="rect">
            <a:avLst/>
          </a:prstGeom>
          <a:noFill/>
        </p:spPr>
        <p:txBody>
          <a:bodyPr wrap="square" rtlCol="0">
            <a:spAutoFit/>
          </a:bodyPr>
          <a:lstStyle/>
          <a:p>
            <a:r>
              <a:rPr lang="en-US" b="1" i="0" dirty="0">
                <a:effectLst/>
                <a:latin typeface="arial" panose="020B0604020202020204" pitchFamily="34" charset="0"/>
              </a:rPr>
              <a:t>Data interpretation</a:t>
            </a:r>
            <a:r>
              <a:rPr lang="en-US" b="0" i="0" dirty="0">
                <a:effectLst/>
                <a:latin typeface="arial" panose="020B0604020202020204" pitchFamily="34" charset="0"/>
              </a:rPr>
              <a:t> is the process of reviewing data and drawing meaningful conclusions using a variety of analytical approaches</a:t>
            </a:r>
            <a:endParaRPr lang="en-US" dirty="0"/>
          </a:p>
        </p:txBody>
      </p:sp>
      <p:sp>
        <p:nvSpPr>
          <p:cNvPr id="5" name="TextBox 4">
            <a:extLst>
              <a:ext uri="{FF2B5EF4-FFF2-40B4-BE49-F238E27FC236}">
                <a16:creationId xmlns:a16="http://schemas.microsoft.com/office/drawing/2014/main" id="{353B9584-0E9B-7073-0C51-EE54A868D4E0}"/>
              </a:ext>
            </a:extLst>
          </p:cNvPr>
          <p:cNvSpPr txBox="1"/>
          <p:nvPr/>
        </p:nvSpPr>
        <p:spPr>
          <a:xfrm>
            <a:off x="1853967" y="4680786"/>
            <a:ext cx="6094602" cy="923330"/>
          </a:xfrm>
          <a:prstGeom prst="rect">
            <a:avLst/>
          </a:prstGeom>
          <a:noFill/>
        </p:spPr>
        <p:txBody>
          <a:bodyPr wrap="square">
            <a:spAutoFit/>
          </a:bodyPr>
          <a:lstStyle/>
          <a:p>
            <a:r>
              <a:rPr lang="en-US" b="1" i="0" dirty="0">
                <a:effectLst/>
                <a:latin typeface="arial" panose="020B0604020202020204" pitchFamily="34" charset="0"/>
              </a:rPr>
              <a:t>Data Interpretation</a:t>
            </a:r>
            <a:r>
              <a:rPr lang="en-US" b="0" i="0" dirty="0">
                <a:effectLst/>
                <a:latin typeface="arial" panose="020B0604020202020204" pitchFamily="34" charset="0"/>
              </a:rPr>
              <a:t> questions and answers with explanation for interview, competitive examination and entrance test. </a:t>
            </a:r>
            <a:endParaRPr lang="en-US" dirty="0"/>
          </a:p>
        </p:txBody>
      </p:sp>
    </p:spTree>
    <p:extLst>
      <p:ext uri="{BB962C8B-B14F-4D97-AF65-F5344CB8AC3E}">
        <p14:creationId xmlns:p14="http://schemas.microsoft.com/office/powerpoint/2010/main" val="19725330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Google Shape;4473;p56">
            <a:extLst>
              <a:ext uri="{FF2B5EF4-FFF2-40B4-BE49-F238E27FC236}">
                <a16:creationId xmlns:a16="http://schemas.microsoft.com/office/drawing/2014/main" id="{D35800C3-5F5D-4C7F-B7F9-EBDF384906DC}"/>
              </a:ext>
            </a:extLst>
          </p:cNvPr>
          <p:cNvSpPr/>
          <p:nvPr/>
        </p:nvSpPr>
        <p:spPr>
          <a:xfrm>
            <a:off x="-1" y="0"/>
            <a:ext cx="9236279" cy="6858000"/>
          </a:xfrm>
          <a:prstGeom prst="rect">
            <a:avLst/>
          </a:prstGeom>
          <a:solidFill>
            <a:srgbClr val="029CA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3" name="Google Shape;4474;p56">
            <a:extLst>
              <a:ext uri="{FF2B5EF4-FFF2-40B4-BE49-F238E27FC236}">
                <a16:creationId xmlns:a16="http://schemas.microsoft.com/office/drawing/2014/main" id="{3EEDB230-553C-4399-830C-52C67008C3EC}"/>
              </a:ext>
            </a:extLst>
          </p:cNvPr>
          <p:cNvSpPr txBox="1"/>
          <p:nvPr/>
        </p:nvSpPr>
        <p:spPr>
          <a:xfrm>
            <a:off x="1647418" y="1603894"/>
            <a:ext cx="5941440" cy="3650212"/>
          </a:xfrm>
          <a:prstGeom prst="rect">
            <a:avLst/>
          </a:prstGeom>
          <a:noFill/>
          <a:ln>
            <a:noFill/>
          </a:ln>
        </p:spPr>
        <p:txBody>
          <a:bodyPr spcFirstLastPara="1" wrap="square" lIns="109700" tIns="54850" rIns="109700" bIns="54850" anchor="t" anchorCtr="0">
            <a:spAutoFit/>
          </a:bodyPr>
          <a:lstStyle/>
          <a:p>
            <a:pPr marL="0" marR="0" lvl="0" indent="0" algn="just" rtl="0">
              <a:lnSpc>
                <a:spcPct val="100000"/>
              </a:lnSpc>
              <a:spcBef>
                <a:spcPts val="0"/>
              </a:spcBef>
              <a:spcAft>
                <a:spcPts val="0"/>
              </a:spcAft>
              <a:buClr>
                <a:srgbClr val="000000"/>
              </a:buClr>
              <a:buSzPts val="11500"/>
              <a:buFont typeface="Arial"/>
              <a:buNone/>
            </a:pPr>
            <a:r>
              <a:rPr lang="en-US" sz="11500" b="0" i="0" u="none" strike="noStrike" cap="none" dirty="0">
                <a:solidFill>
                  <a:schemeClr val="lt1"/>
                </a:solidFill>
                <a:latin typeface="Arial"/>
                <a:ea typeface="Arial"/>
                <a:cs typeface="Arial"/>
                <a:sym typeface="Arial"/>
              </a:rPr>
              <a:t>THANK</a:t>
            </a:r>
            <a:endParaRPr sz="14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1500"/>
              <a:buFont typeface="Arial"/>
              <a:buNone/>
            </a:pPr>
            <a:r>
              <a:rPr lang="en-US" sz="11500" b="0" i="0" u="none" strike="noStrike" cap="none" dirty="0">
                <a:solidFill>
                  <a:schemeClr val="lt1"/>
                </a:solidFill>
                <a:latin typeface="Arial"/>
                <a:ea typeface="Arial"/>
                <a:cs typeface="Arial"/>
                <a:sym typeface="Arial"/>
              </a:rPr>
              <a:t>YOU</a:t>
            </a: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2958523414"/>
      </p:ext>
    </p:extLst>
  </p:cSld>
  <p:clrMapOvr>
    <a:masterClrMapping/>
  </p:clrMapOvr>
</p:sld>
</file>

<file path=ppt/theme/theme1.xml><?xml version="1.0" encoding="utf-8"?>
<a:theme xmlns:a="http://schemas.openxmlformats.org/drawingml/2006/main" name="1_RetrospectVTI">
  <a:themeElements>
    <a:clrScheme name="Custom 34">
      <a:dk1>
        <a:sysClr val="windowText" lastClr="000000"/>
      </a:dk1>
      <a:lt1>
        <a:sysClr val="window" lastClr="FFFFFF"/>
      </a:lt1>
      <a:dk2>
        <a:srgbClr val="39302A"/>
      </a:dk2>
      <a:lt2>
        <a:srgbClr val="E5DEDB"/>
      </a:lt2>
      <a:accent1>
        <a:srgbClr val="EC7016"/>
      </a:accent1>
      <a:accent2>
        <a:srgbClr val="F8931D"/>
      </a:accent2>
      <a:accent3>
        <a:srgbClr val="CE8D3E"/>
      </a:accent3>
      <a:accent4>
        <a:srgbClr val="E64823"/>
      </a:accent4>
      <a:accent5>
        <a:srgbClr val="FFCA08"/>
      </a:accent5>
      <a:accent6>
        <a:srgbClr val="9C6A6A"/>
      </a:accent6>
      <a:hlink>
        <a:srgbClr val="2998E3"/>
      </a:hlink>
      <a:folHlink>
        <a:srgbClr val="7F723D"/>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ABE3C30C-0FC0-4450-828E-52DE70F1BCCB}" vid="{A6E2497D-935A-4CFD-B9FD-6DCB15FA68B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6">
    <wetp:webextensionref xmlns:r="http://schemas.openxmlformats.org/officeDocument/2006/relationships" r:id="rId1"/>
  </wetp:taskpane>
  <wetp:taskpane dockstate="right" visibility="0" width="350" row="7">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D8510B9F-0608-455E-BD30-256E09A56192}">
  <we:reference id="wa200000113" version="1.0.0.0" store="en-US" storeType="OMEX"/>
  <we:alternateReferences>
    <we:reference id="wa200000113" version="1.0.0.0" store="WA200000113"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0F707ECC-A227-4D08-84B2-6A2D23D0D558}">
  <we:reference id="wa104380902" version="1.0.0.0" store="en-US" storeType="OMEX"/>
  <we:alternateReferences>
    <we:reference id="wa104380902" version="1.0.0.0" store="WA104380902"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3932EF5-314F-409E-8020-FEE5FA0795B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03EEFF0-FB57-4CB4-8BFC-DF397689E2ED}">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AA3F7EDC-E5B4-4BBC-9D2A-CBE6D46C37A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{B321467A-3909-4BC8-B5A8-FCCD92A8FB69}tf22712842_win32</Template>
  <TotalTime>30827</TotalTime>
  <Words>1351</Words>
  <Application>Microsoft Office PowerPoint</Application>
  <PresentationFormat>Widescreen</PresentationFormat>
  <Paragraphs>64</Paragraphs>
  <Slides>13</Slides>
  <Notes>1</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13</vt:i4>
      </vt:variant>
    </vt:vector>
  </HeadingPairs>
  <TitlesOfParts>
    <vt:vector size="25" baseType="lpstr">
      <vt:lpstr>Arial</vt:lpstr>
      <vt:lpstr>Arial</vt:lpstr>
      <vt:lpstr>Bookman Old Style</vt:lpstr>
      <vt:lpstr>Calibri</vt:lpstr>
      <vt:lpstr>Franklin Gothic Book</vt:lpstr>
      <vt:lpstr>Georgia</vt:lpstr>
      <vt:lpstr>Open Sans</vt:lpstr>
      <vt:lpstr>proxima-nova</vt:lpstr>
      <vt:lpstr>Source Serif Pro</vt:lpstr>
      <vt:lpstr>Times New Roman</vt:lpstr>
      <vt:lpstr>TradeGothicNextLTPro-Rg</vt:lpstr>
      <vt:lpstr>1_RetrospectVTI</vt:lpstr>
      <vt:lpstr>Data ecosystem, data lifecycle, and  building your analytical skill set.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Effective &amp; Efficient Exploratory Data Analysis and Business Intelligence Tool that helps to Bring Your Data to Life</dc:title>
  <dc:creator>Enoch Nunekpeku</dc:creator>
  <cp:lastModifiedBy>Enoch Nunekpeku</cp:lastModifiedBy>
  <cp:revision>77</cp:revision>
  <dcterms:created xsi:type="dcterms:W3CDTF">2022-03-18T21:56:52Z</dcterms:created>
  <dcterms:modified xsi:type="dcterms:W3CDTF">2022-07-27T16:52:50Z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