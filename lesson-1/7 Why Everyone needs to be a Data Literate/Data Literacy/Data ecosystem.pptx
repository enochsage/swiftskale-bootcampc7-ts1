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309" r:id="rId5"/>
    <p:sldId id="459" r:id="rId6"/>
    <p:sldId id="460" r:id="rId7"/>
    <p:sldId id="461" r:id="rId8"/>
    <p:sldId id="462" r:id="rId9"/>
    <p:sldId id="463" r:id="rId10"/>
    <p:sldId id="464" r:id="rId11"/>
    <p:sldId id="465" r:id="rId12"/>
    <p:sldId id="466" r:id="rId13"/>
    <p:sldId id="467" r:id="rId14"/>
    <p:sldId id="468" r:id="rId15"/>
    <p:sldId id="42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a:srgbClr val="ADF50D"/>
    <a:srgbClr val="0D98CD"/>
    <a:srgbClr val="0B9ACE"/>
    <a:srgbClr val="029CA6"/>
    <a:srgbClr val="002060"/>
    <a:srgbClr val="F47D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7801" autoAdjust="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FF0DC4-9CB7-49BA-8942-5853D102F002}" type="datetimeFigureOut">
              <a:rPr lang="en-GB" smtClean="0"/>
              <a:t>03/07/2022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8B7C45-0FCC-4BC3-9B94-909AF4CDEEBB}" type="slidenum">
              <a:rPr lang="en-GB" smtClean="0"/>
              <a:t>‹#›</a:t>
            </a:fld>
            <a:endParaRPr lang="en-GB"/>
          </a:p>
        </p:txBody>
      </p:sp>
    </p:spTree>
    <p:extLst>
      <p:ext uri="{BB962C8B-B14F-4D97-AF65-F5344CB8AC3E}">
        <p14:creationId xmlns:p14="http://schemas.microsoft.com/office/powerpoint/2010/main" val="3241246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89F6DF8-CA09-4B41-8438-EF0E3804BC06}" type="slidenum">
              <a:rPr lang="en-US" smtClean="0"/>
              <a:t>1</a:t>
            </a:fld>
            <a:endParaRPr lang="en-US"/>
          </a:p>
        </p:txBody>
      </p:sp>
    </p:spTree>
    <p:extLst>
      <p:ext uri="{BB962C8B-B14F-4D97-AF65-F5344CB8AC3E}">
        <p14:creationId xmlns:p14="http://schemas.microsoft.com/office/powerpoint/2010/main" val="2064714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7/3/2022</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7/3/2022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7/3/2022</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7/3/2022</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7/3/2022</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7/3/2022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7/3/2022</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7/3/2022</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7/3/2022</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7/3/2022</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44DCD92-7F29-430F-BDDA-BAB1092FBD66}"/>
              </a:ext>
            </a:extLst>
          </p:cNvPr>
          <p:cNvPicPr>
            <a:picLocks noChangeAspect="1"/>
          </p:cNvPicPr>
          <p:nvPr/>
        </p:nvPicPr>
        <p:blipFill>
          <a:blip r:embed="rId3"/>
          <a:stretch>
            <a:fillRect/>
          </a:stretch>
        </p:blipFill>
        <p:spPr>
          <a:xfrm>
            <a:off x="6705610" y="387082"/>
            <a:ext cx="4894256" cy="4772355"/>
          </a:xfrm>
          <a:prstGeom prst="rect">
            <a:avLst/>
          </a:prstGeom>
        </p:spPr>
      </p:pic>
      <p:pic>
        <p:nvPicPr>
          <p:cNvPr id="3" name="Picture 2">
            <a:extLst>
              <a:ext uri="{FF2B5EF4-FFF2-40B4-BE49-F238E27FC236}">
                <a16:creationId xmlns:a16="http://schemas.microsoft.com/office/drawing/2014/main" id="{D2A1CC74-957E-41A5-8DCF-1BEC12878FDB}"/>
              </a:ext>
            </a:extLst>
          </p:cNvPr>
          <p:cNvPicPr>
            <a:picLocks noChangeAspect="1"/>
          </p:cNvPicPr>
          <p:nvPr/>
        </p:nvPicPr>
        <p:blipFill>
          <a:blip r:embed="rId4"/>
          <a:stretch>
            <a:fillRect/>
          </a:stretch>
        </p:blipFill>
        <p:spPr>
          <a:xfrm>
            <a:off x="1049112" y="128937"/>
            <a:ext cx="6096000" cy="6096000"/>
          </a:xfrm>
          <a:prstGeom prst="rect">
            <a:avLst/>
          </a:prstGeom>
        </p:spPr>
      </p:pic>
      <p:sp>
        <p:nvSpPr>
          <p:cNvPr id="6" name="Rectangle 5"/>
          <p:cNvSpPr/>
          <p:nvPr/>
        </p:nvSpPr>
        <p:spPr>
          <a:xfrm>
            <a:off x="-9223" y="4156"/>
            <a:ext cx="12210445" cy="6849688"/>
          </a:xfrm>
          <a:prstGeom prst="rect">
            <a:avLst/>
          </a:prstGeom>
          <a:solidFill>
            <a:schemeClr val="bg1">
              <a:lumMod val="85000"/>
              <a:alpha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2" name="Title 1"/>
          <p:cNvSpPr>
            <a:spLocks noGrp="1"/>
          </p:cNvSpPr>
          <p:nvPr>
            <p:ph type="title"/>
          </p:nvPr>
        </p:nvSpPr>
        <p:spPr>
          <a:xfrm>
            <a:off x="1045764" y="1084656"/>
            <a:ext cx="10531213" cy="3064138"/>
          </a:xfrm>
          <a:effectLst>
            <a:outerShdw blurRad="50800" dist="38100" dir="2700000" algn="tl" rotWithShape="0">
              <a:prstClr val="black">
                <a:alpha val="40000"/>
              </a:prstClr>
            </a:outerShdw>
          </a:effectLst>
        </p:spPr>
        <p:txBody>
          <a:bodyPr>
            <a:noAutofit/>
          </a:bodyPr>
          <a:lstStyle/>
          <a:p>
            <a:pPr algn="ctr"/>
            <a:r>
              <a:rPr lang="en-US" sz="3600" dirty="0">
                <a:solidFill>
                  <a:schemeClr val="tx1"/>
                </a:solidFill>
              </a:rPr>
              <a:t>Data ecosystem, data lifecycle, and </a:t>
            </a:r>
            <a:br>
              <a:rPr lang="en-US" sz="3600" dirty="0">
                <a:solidFill>
                  <a:schemeClr val="tx1"/>
                </a:solidFill>
              </a:rPr>
            </a:br>
            <a:r>
              <a:rPr lang="en-US" sz="3600" dirty="0">
                <a:solidFill>
                  <a:schemeClr val="tx1"/>
                </a:solidFill>
              </a:rPr>
              <a:t>building your analytical skill set.</a:t>
            </a:r>
          </a:p>
        </p:txBody>
      </p:sp>
      <p:sp>
        <p:nvSpPr>
          <p:cNvPr id="25" name="Title 1"/>
          <p:cNvSpPr txBox="1">
            <a:spLocks/>
          </p:cNvSpPr>
          <p:nvPr/>
        </p:nvSpPr>
        <p:spPr>
          <a:xfrm>
            <a:off x="1764348" y="3642239"/>
            <a:ext cx="8911631" cy="1069332"/>
          </a:xfrm>
          <a:prstGeom prst="rect">
            <a:avLst/>
          </a:prstGeom>
          <a:effectLst>
            <a:outerShdw blurRad="50800" dist="38100" dir="2700000" algn="tl" rotWithShape="0">
              <a:prstClr val="black">
                <a:alpha val="40000"/>
              </a:prstClr>
            </a:outerShdw>
          </a:effectLst>
        </p:spPr>
        <p:txBody>
          <a:bodyPr vert="horz" lIns="121920" tIns="60960" rIns="121920" bIns="60960" rtlCol="0" anchor="ctr">
            <a:normAutofit/>
          </a:bodyPr>
          <a:lstStyle>
            <a:lvl1pPr algn="ctr" defTabSz="457200" rtl="0" eaLnBrk="1" latinLnBrk="0" hangingPunct="1">
              <a:spcBef>
                <a:spcPct val="0"/>
              </a:spcBef>
              <a:buNone/>
              <a:defRPr sz="4000" kern="1200">
                <a:solidFill>
                  <a:schemeClr val="tx1"/>
                </a:solidFill>
                <a:latin typeface="Rockwell"/>
                <a:ea typeface="+mj-ea"/>
                <a:cs typeface="+mj-cs"/>
              </a:defRPr>
            </a:lvl1pPr>
          </a:lstStyle>
          <a:p>
            <a:endParaRPr lang="en-US" sz="2400" i="1" dirty="0">
              <a:solidFill>
                <a:schemeClr val="bg1">
                  <a:lumMod val="95000"/>
                </a:schemeClr>
              </a:solidFill>
              <a:latin typeface="+mj-lt"/>
            </a:endParaRPr>
          </a:p>
        </p:txBody>
      </p:sp>
      <p:sp>
        <p:nvSpPr>
          <p:cNvPr id="34" name="Rectangle 33">
            <a:hlinkClick r:id="" action="ppaction://hlinkshowjump?jump=nextslide"/>
          </p:cNvPr>
          <p:cNvSpPr/>
          <p:nvPr/>
        </p:nvSpPr>
        <p:spPr>
          <a:xfrm rot="16200000">
            <a:off x="8448333" y="3124142"/>
            <a:ext cx="6884404" cy="609715"/>
          </a:xfrm>
          <a:prstGeom prst="rect">
            <a:avLst/>
          </a:prstGeom>
          <a:solidFill>
            <a:srgbClr val="00B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667" b="1" dirty="0">
                <a:solidFill>
                  <a:schemeClr val="bg1"/>
                </a:solidFill>
              </a:rPr>
              <a:t>Continue</a:t>
            </a:r>
          </a:p>
        </p:txBody>
      </p:sp>
      <p:sp>
        <p:nvSpPr>
          <p:cNvPr id="19" name="Title 1">
            <a:extLst>
              <a:ext uri="{FF2B5EF4-FFF2-40B4-BE49-F238E27FC236}">
                <a16:creationId xmlns:a16="http://schemas.microsoft.com/office/drawing/2014/main" id="{4D9F7AC1-161A-4DE4-9601-B351378BC76B}"/>
              </a:ext>
            </a:extLst>
          </p:cNvPr>
          <p:cNvSpPr txBox="1">
            <a:spLocks/>
          </p:cNvSpPr>
          <p:nvPr/>
        </p:nvSpPr>
        <p:spPr>
          <a:xfrm>
            <a:off x="1684289" y="5102379"/>
            <a:ext cx="8371341" cy="1069332"/>
          </a:xfrm>
          <a:prstGeom prst="rect">
            <a:avLst/>
          </a:prstGeom>
          <a:effectLst>
            <a:outerShdw blurRad="50800" dist="38100" dir="2700000" algn="tl" rotWithShape="0">
              <a:prstClr val="black">
                <a:alpha val="40000"/>
              </a:prstClr>
            </a:outerShdw>
          </a:effectLst>
        </p:spPr>
        <p:txBody>
          <a:bodyPr vert="horz" lIns="121920" tIns="60960" rIns="121920" bIns="60960" rtlCol="0" anchor="ctr">
            <a:normAutofit/>
          </a:bodyPr>
          <a:lstStyle>
            <a:lvl1pPr algn="ctr" defTabSz="457200" rtl="0" eaLnBrk="1" latinLnBrk="0" hangingPunct="1">
              <a:spcBef>
                <a:spcPct val="0"/>
              </a:spcBef>
              <a:buNone/>
              <a:defRPr sz="4000" kern="1200">
                <a:solidFill>
                  <a:schemeClr val="tx1"/>
                </a:solidFill>
                <a:latin typeface="Rockwell"/>
                <a:ea typeface="+mj-ea"/>
                <a:cs typeface="+mj-cs"/>
              </a:defRPr>
            </a:lvl1pPr>
          </a:lstStyle>
          <a:p>
            <a:pPr marR="0" lvl="0">
              <a:lnSpc>
                <a:spcPct val="107000"/>
              </a:lnSpc>
              <a:spcBef>
                <a:spcPts val="0"/>
              </a:spcBef>
              <a:spcAft>
                <a:spcPts val="800"/>
              </a:spcAft>
            </a:pPr>
            <a:r>
              <a:rPr lang="en-GB" sz="2400" i="1" dirty="0">
                <a:effectLst/>
                <a:latin typeface="Times New Roman" panose="02020603050405020304" pitchFamily="18" charset="0"/>
                <a:ea typeface="Calibri" panose="020F0502020204030204" pitchFamily="34" charset="0"/>
                <a:cs typeface="Times New Roman" panose="02020603050405020304" pitchFamily="18" charset="0"/>
              </a:rPr>
              <a:t>In this module, we will be looking at what Business Intelligence is, Examples of BI tools, and the Benefits of BI to businesses. </a:t>
            </a:r>
            <a:endParaRPr lang="en-GB" sz="2400"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45504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1+#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7439F29-1079-30E2-0531-7A9DECE24480}"/>
              </a:ext>
            </a:extLst>
          </p:cNvPr>
          <p:cNvSpPr txBox="1"/>
          <p:nvPr/>
        </p:nvSpPr>
        <p:spPr>
          <a:xfrm>
            <a:off x="866164" y="1140470"/>
            <a:ext cx="6094602" cy="923330"/>
          </a:xfrm>
          <a:prstGeom prst="rect">
            <a:avLst/>
          </a:prstGeom>
          <a:noFill/>
        </p:spPr>
        <p:txBody>
          <a:bodyPr wrap="square">
            <a:spAutoFit/>
          </a:bodyPr>
          <a:lstStyle/>
          <a:p>
            <a:r>
              <a:rPr lang="en-US" b="0" i="0" dirty="0">
                <a:effectLst/>
                <a:latin typeface="arial" panose="020B0604020202020204" pitchFamily="34" charset="0"/>
              </a:rPr>
              <a:t>Data generation comprises activities such as </a:t>
            </a:r>
            <a:r>
              <a:rPr lang="en-US" b="1" i="0" dirty="0">
                <a:effectLst/>
                <a:latin typeface="arial" panose="020B0604020202020204" pitchFamily="34" charset="0"/>
              </a:rPr>
              <a:t>searching for, focusing on, noting, selecting, extracting, and capturing data</a:t>
            </a:r>
            <a:r>
              <a:rPr lang="en-US" b="0" i="0" dirty="0">
                <a:effectLst/>
                <a:latin typeface="arial" panose="020B0604020202020204" pitchFamily="34" charset="0"/>
              </a:rPr>
              <a:t>. </a:t>
            </a:r>
            <a:endParaRPr lang="en-US" dirty="0"/>
          </a:p>
        </p:txBody>
      </p:sp>
      <p:sp>
        <p:nvSpPr>
          <p:cNvPr id="12" name="TextBox 11">
            <a:extLst>
              <a:ext uri="{FF2B5EF4-FFF2-40B4-BE49-F238E27FC236}">
                <a16:creationId xmlns:a16="http://schemas.microsoft.com/office/drawing/2014/main" id="{9A60AE90-A0C0-3CB3-76AC-924DBA7C25D1}"/>
              </a:ext>
            </a:extLst>
          </p:cNvPr>
          <p:cNvSpPr txBox="1"/>
          <p:nvPr/>
        </p:nvSpPr>
        <p:spPr>
          <a:xfrm>
            <a:off x="866164" y="2667699"/>
            <a:ext cx="9762687" cy="2862322"/>
          </a:xfrm>
          <a:prstGeom prst="rect">
            <a:avLst/>
          </a:prstGeom>
          <a:noFill/>
        </p:spPr>
        <p:txBody>
          <a:bodyPr wrap="square" rtlCol="0">
            <a:spAutoFit/>
          </a:bodyPr>
          <a:lstStyle/>
          <a:p>
            <a:pPr algn="l"/>
            <a:r>
              <a:rPr lang="en-US" b="0" i="0" dirty="0">
                <a:effectLst/>
                <a:latin typeface="arial" panose="020B0604020202020204" pitchFamily="34" charset="0"/>
              </a:rPr>
              <a:t>In the era of the Internet of Things (IoT), </a:t>
            </a:r>
            <a:r>
              <a:rPr lang="en-US" b="1" i="0" dirty="0">
                <a:effectLst/>
                <a:latin typeface="arial" panose="020B0604020202020204" pitchFamily="34" charset="0"/>
              </a:rPr>
              <a:t>an enormous amount of sensing </a:t>
            </a:r>
          </a:p>
          <a:p>
            <a:pPr algn="l"/>
            <a:r>
              <a:rPr lang="en-US" b="1" i="0" dirty="0">
                <a:effectLst/>
                <a:latin typeface="arial" panose="020B0604020202020204" pitchFamily="34" charset="0"/>
              </a:rPr>
              <a:t>devices collect and/or generate various sensory data over time for a </a:t>
            </a:r>
          </a:p>
          <a:p>
            <a:pPr algn="l"/>
            <a:r>
              <a:rPr lang="en-US" b="1" i="0" dirty="0">
                <a:effectLst/>
                <a:latin typeface="arial" panose="020B0604020202020204" pitchFamily="34" charset="0"/>
              </a:rPr>
              <a:t>wide range of fields and applications</a:t>
            </a:r>
            <a:r>
              <a:rPr lang="en-US" b="0" i="0" dirty="0">
                <a:effectLst/>
                <a:latin typeface="arial" panose="020B0604020202020204" pitchFamily="34" charset="0"/>
              </a:rPr>
              <a:t>. Based on the nature of the application, </a:t>
            </a:r>
          </a:p>
          <a:p>
            <a:pPr algn="l"/>
            <a:r>
              <a:rPr lang="en-US" b="0" i="0" dirty="0">
                <a:effectLst/>
                <a:latin typeface="arial" panose="020B0604020202020204" pitchFamily="34" charset="0"/>
              </a:rPr>
              <a:t>these devices will result in big or fast/real-time data streams.</a:t>
            </a:r>
          </a:p>
          <a:p>
            <a:pPr algn="l"/>
            <a:endParaRPr lang="en-US" b="0" i="0" dirty="0">
              <a:effectLst/>
              <a:latin typeface="arial" panose="020B0604020202020204" pitchFamily="34" charset="0"/>
            </a:endParaRPr>
          </a:p>
          <a:p>
            <a:pPr algn="l"/>
            <a:r>
              <a:rPr lang="en-US" dirty="0"/>
              <a:t>Applying analytics over such data streams to discover new information, predict future insights, and make decisions is a crucial process that makes IoT a worthy paradigm for businesses and a quality-of-life improving technology.</a:t>
            </a:r>
            <a:endParaRPr lang="en-US" b="0" i="0" dirty="0">
              <a:effectLst/>
              <a:latin typeface="arial" panose="020B0604020202020204" pitchFamily="34" charset="0"/>
            </a:endParaRPr>
          </a:p>
          <a:p>
            <a:br>
              <a:rPr lang="en-US" b="0" i="0" dirty="0">
                <a:effectLst/>
                <a:latin typeface="arial" panose="020B0604020202020204" pitchFamily="34" charset="0"/>
              </a:rPr>
            </a:br>
            <a:endParaRPr lang="en-US" dirty="0"/>
          </a:p>
        </p:txBody>
      </p:sp>
      <p:sp>
        <p:nvSpPr>
          <p:cNvPr id="17" name="TextBox 16">
            <a:extLst>
              <a:ext uri="{FF2B5EF4-FFF2-40B4-BE49-F238E27FC236}">
                <a16:creationId xmlns:a16="http://schemas.microsoft.com/office/drawing/2014/main" id="{D53C27FB-B863-B5E9-5007-DB75DE4B1BEE}"/>
              </a:ext>
            </a:extLst>
          </p:cNvPr>
          <p:cNvSpPr txBox="1"/>
          <p:nvPr/>
        </p:nvSpPr>
        <p:spPr>
          <a:xfrm>
            <a:off x="866164" y="469189"/>
            <a:ext cx="6451134" cy="400110"/>
          </a:xfrm>
          <a:prstGeom prst="rect">
            <a:avLst/>
          </a:prstGeom>
          <a:noFill/>
        </p:spPr>
        <p:txBody>
          <a:bodyPr wrap="square" rtlCol="0">
            <a:spAutoFit/>
          </a:bodyPr>
          <a:lstStyle/>
          <a:p>
            <a:r>
              <a:rPr lang="en-US" sz="2000" b="1" dirty="0"/>
              <a:t>DATA GENERATION</a:t>
            </a:r>
          </a:p>
        </p:txBody>
      </p:sp>
    </p:spTree>
    <p:extLst>
      <p:ext uri="{BB962C8B-B14F-4D97-AF65-F5344CB8AC3E}">
        <p14:creationId xmlns:p14="http://schemas.microsoft.com/office/powerpoint/2010/main" val="343600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B34961-AD15-25FB-EE1C-1C716F453A05}"/>
              </a:ext>
            </a:extLst>
          </p:cNvPr>
          <p:cNvSpPr txBox="1"/>
          <p:nvPr/>
        </p:nvSpPr>
        <p:spPr>
          <a:xfrm>
            <a:off x="492154" y="1359590"/>
            <a:ext cx="5162026" cy="4801314"/>
          </a:xfrm>
          <a:prstGeom prst="rect">
            <a:avLst/>
          </a:prstGeom>
          <a:noFill/>
        </p:spPr>
        <p:txBody>
          <a:bodyPr wrap="square" rtlCol="0">
            <a:spAutoFit/>
          </a:bodyPr>
          <a:lstStyle/>
          <a:p>
            <a:pPr algn="just">
              <a:lnSpc>
                <a:spcPct val="150000"/>
              </a:lnSpc>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Data collection in business analytics is the systematic process of obtaining, measuring, and analyzing reliable data from a range of sources in order to find solutions to business problems, acquire actionable insights, test hypotheses and examine outcomes, as well as identify insights and predict future trends or events which are relevant for business growth and development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(Simplilearn, 2021). </a:t>
            </a:r>
          </a:p>
          <a:p>
            <a:pPr algn="just">
              <a:lnSpc>
                <a:spcPct val="150000"/>
              </a:lnSpc>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Alternatively, Data Collection can also be defined as the process of acquiring data for corporate decision-making, strategic planning, research, and other objectives which is an important component of data analytics initiatives and research (Stedman, &amp; McLaughlin, 2022).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p>
        </p:txBody>
      </p:sp>
      <p:sp>
        <p:nvSpPr>
          <p:cNvPr id="4" name="TextBox 3">
            <a:extLst>
              <a:ext uri="{FF2B5EF4-FFF2-40B4-BE49-F238E27FC236}">
                <a16:creationId xmlns:a16="http://schemas.microsoft.com/office/drawing/2014/main" id="{9D056326-7FE4-0868-631D-DD5B0431A3E7}"/>
              </a:ext>
            </a:extLst>
          </p:cNvPr>
          <p:cNvSpPr txBox="1"/>
          <p:nvPr/>
        </p:nvSpPr>
        <p:spPr>
          <a:xfrm>
            <a:off x="492154" y="528506"/>
            <a:ext cx="4974672" cy="369332"/>
          </a:xfrm>
          <a:prstGeom prst="rect">
            <a:avLst/>
          </a:prstGeom>
          <a:noFill/>
        </p:spPr>
        <p:txBody>
          <a:bodyPr wrap="square" rtlCol="0">
            <a:spAutoFit/>
          </a:bodyPr>
          <a:lstStyle/>
          <a:p>
            <a:r>
              <a:rPr lang="en-US" b="1" dirty="0"/>
              <a:t>DATA COLLECTION</a:t>
            </a:r>
          </a:p>
        </p:txBody>
      </p:sp>
      <p:sp>
        <p:nvSpPr>
          <p:cNvPr id="5" name="TextBox 4">
            <a:extLst>
              <a:ext uri="{FF2B5EF4-FFF2-40B4-BE49-F238E27FC236}">
                <a16:creationId xmlns:a16="http://schemas.microsoft.com/office/drawing/2014/main" id="{3E906DE9-EB8B-42AC-FEDD-E9B8EFF08CEC}"/>
              </a:ext>
            </a:extLst>
          </p:cNvPr>
          <p:cNvSpPr txBox="1"/>
          <p:nvPr/>
        </p:nvSpPr>
        <p:spPr>
          <a:xfrm>
            <a:off x="5944999" y="1359590"/>
            <a:ext cx="5925424" cy="4939814"/>
          </a:xfrm>
          <a:prstGeom prst="rect">
            <a:avLst/>
          </a:prstGeom>
          <a:noFill/>
        </p:spPr>
        <p:txBody>
          <a:bodyPr wrap="square" rtlCol="0">
            <a:spAutoFit/>
          </a:bodyPr>
          <a:lstStyle/>
          <a:p>
            <a:pPr algn="just">
              <a:lnSpc>
                <a:spcPct val="150000"/>
              </a:lnSpc>
            </a:pPr>
            <a:r>
              <a:rPr lang="en-US"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Moreover, it is pertinent that data analysts identify reliable data sources, data types, and data collection procedures during data gathering as it promotes good decision-making, and maintain research integrity. Besides, it's critical to make sure your data is accurate and obtained legally and ethically throughout the collecting process (Cote, 2021). Consequently, significant costs that emanate due to erroneous data collection include the inability to validate the data sources or data types, inaccurate outcomes or insights resulting in wasted resources, as well as misleading management to pursue unproductive business decisions. </a:t>
            </a:r>
            <a:endParaRPr lang="en-US" sz="18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69636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33D06D-3CCF-E645-F73B-8722A5F56E72}"/>
              </a:ext>
            </a:extLst>
          </p:cNvPr>
          <p:cNvSpPr txBox="1"/>
          <p:nvPr/>
        </p:nvSpPr>
        <p:spPr>
          <a:xfrm>
            <a:off x="1291906" y="1359590"/>
            <a:ext cx="6895749" cy="4150367"/>
          </a:xfrm>
          <a:prstGeom prst="rect">
            <a:avLst/>
          </a:prstGeom>
          <a:noFill/>
        </p:spPr>
        <p:txBody>
          <a:bodyPr wrap="square" rtlCol="0">
            <a:spAutoFit/>
          </a:bodyPr>
          <a:lstStyle/>
          <a:p>
            <a:pPr algn="just">
              <a:lnSpc>
                <a:spcPct val="150000"/>
              </a:lnSpc>
            </a:pP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In organizations and businesses around the world, data is collected at all levels and services such as</a:t>
            </a:r>
            <a:r>
              <a:rPr lang="en-US" sz="1600" spc="5"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customer management services, marketing services, sales management, consulting, etc.</a:t>
            </a: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50000"/>
              </a:lnSpc>
            </a:pP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Moreover, when businesses are conducted and transactions are made, data analysts collect data of clients, staff, sales, inventory and other elements of corporate operations. Additionally, customers' inputs are gathered through surveys, questionnaires, and social media monitoring. Thereafter, business data analysts and data scientists gather relevant data from internal systems and external data sources to examine and </a:t>
            </a:r>
            <a:r>
              <a:rPr lang="en-GB"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transform into actionable insights that inform an organization’s business decisions </a:t>
            </a: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(Stedman, &amp; McLaughlin, 2022)</a:t>
            </a:r>
            <a:r>
              <a:rPr lang="en-GB"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6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dirty="0">
              <a:solidFill>
                <a:srgbClr val="C00000"/>
              </a:solidFill>
            </a:endParaRPr>
          </a:p>
        </p:txBody>
      </p:sp>
      <p:sp>
        <p:nvSpPr>
          <p:cNvPr id="3" name="TextBox 2">
            <a:extLst>
              <a:ext uri="{FF2B5EF4-FFF2-40B4-BE49-F238E27FC236}">
                <a16:creationId xmlns:a16="http://schemas.microsoft.com/office/drawing/2014/main" id="{7B1A3E26-9F8D-6967-911D-2E534BE35BB9}"/>
              </a:ext>
            </a:extLst>
          </p:cNvPr>
          <p:cNvSpPr txBox="1"/>
          <p:nvPr/>
        </p:nvSpPr>
        <p:spPr>
          <a:xfrm>
            <a:off x="492154" y="528506"/>
            <a:ext cx="4974672" cy="369332"/>
          </a:xfrm>
          <a:prstGeom prst="rect">
            <a:avLst/>
          </a:prstGeom>
          <a:noFill/>
        </p:spPr>
        <p:txBody>
          <a:bodyPr wrap="square" rtlCol="0">
            <a:spAutoFit/>
          </a:bodyPr>
          <a:lstStyle/>
          <a:p>
            <a:r>
              <a:rPr lang="en-US" b="1" dirty="0"/>
              <a:t>DATA COLLECTION</a:t>
            </a:r>
          </a:p>
        </p:txBody>
      </p:sp>
    </p:spTree>
    <p:extLst>
      <p:ext uri="{BB962C8B-B14F-4D97-AF65-F5344CB8AC3E}">
        <p14:creationId xmlns:p14="http://schemas.microsoft.com/office/powerpoint/2010/main" val="2670893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D9DA02-DC3F-8F9D-B7D2-D36A60886796}"/>
              </a:ext>
            </a:extLst>
          </p:cNvPr>
          <p:cNvSpPr txBox="1"/>
          <p:nvPr/>
        </p:nvSpPr>
        <p:spPr>
          <a:xfrm>
            <a:off x="1023457" y="662730"/>
            <a:ext cx="4974671" cy="369332"/>
          </a:xfrm>
          <a:prstGeom prst="rect">
            <a:avLst/>
          </a:prstGeom>
          <a:noFill/>
        </p:spPr>
        <p:txBody>
          <a:bodyPr wrap="square" rtlCol="0">
            <a:spAutoFit/>
          </a:bodyPr>
          <a:lstStyle/>
          <a:p>
            <a:r>
              <a:rPr lang="en-US" b="1" dirty="0"/>
              <a:t>Data Collection Process</a:t>
            </a:r>
          </a:p>
        </p:txBody>
      </p:sp>
      <p:sp>
        <p:nvSpPr>
          <p:cNvPr id="3" name="TextBox 2">
            <a:extLst>
              <a:ext uri="{FF2B5EF4-FFF2-40B4-BE49-F238E27FC236}">
                <a16:creationId xmlns:a16="http://schemas.microsoft.com/office/drawing/2014/main" id="{A52B6A08-7B0F-1B77-B062-F6A82AA7D4DB}"/>
              </a:ext>
            </a:extLst>
          </p:cNvPr>
          <p:cNvSpPr txBox="1"/>
          <p:nvPr/>
        </p:nvSpPr>
        <p:spPr>
          <a:xfrm>
            <a:off x="1090569" y="1392572"/>
            <a:ext cx="5738070" cy="3781035"/>
          </a:xfrm>
          <a:prstGeom prst="rect">
            <a:avLst/>
          </a:prstGeom>
          <a:noFill/>
        </p:spPr>
        <p:txBody>
          <a:bodyPr wrap="square" rtlCol="0">
            <a:spAutoFit/>
          </a:bodyPr>
          <a:lstStyle/>
          <a:p>
            <a:pPr algn="l">
              <a:lnSpc>
                <a:spcPct val="150000"/>
              </a:lnSpc>
            </a:pPr>
            <a:r>
              <a:rPr lang="en-US" b="1" i="0" dirty="0">
                <a:effectLst/>
                <a:latin typeface="Google Sans"/>
              </a:rPr>
              <a:t>This process consists of the following five steps.</a:t>
            </a:r>
            <a:endParaRPr lang="en-US" b="0" i="0" dirty="0">
              <a:effectLst/>
              <a:latin typeface="Google Sans"/>
            </a:endParaRPr>
          </a:p>
          <a:p>
            <a:pPr algn="l">
              <a:lnSpc>
                <a:spcPct val="150000"/>
              </a:lnSpc>
              <a:buFont typeface="+mj-lt"/>
              <a:buAutoNum type="arabicPeriod"/>
            </a:pPr>
            <a:r>
              <a:rPr lang="en-US" b="0" i="0" dirty="0">
                <a:effectLst/>
                <a:latin typeface="arial" panose="020B0604020202020204" pitchFamily="34" charset="0"/>
              </a:rPr>
              <a:t>Determine What Information You Want to Collect. The first thing you need to do is choose what details you want to collect. ...</a:t>
            </a:r>
          </a:p>
          <a:p>
            <a:pPr algn="l">
              <a:lnSpc>
                <a:spcPct val="150000"/>
              </a:lnSpc>
              <a:buFont typeface="+mj-lt"/>
              <a:buAutoNum type="arabicPeriod"/>
            </a:pPr>
            <a:r>
              <a:rPr lang="en-US" b="0" i="0" dirty="0">
                <a:effectLst/>
                <a:latin typeface="arial" panose="020B0604020202020204" pitchFamily="34" charset="0"/>
              </a:rPr>
              <a:t>Set a Timeframe for Data Collection. ...</a:t>
            </a:r>
          </a:p>
          <a:p>
            <a:pPr algn="l">
              <a:lnSpc>
                <a:spcPct val="150000"/>
              </a:lnSpc>
              <a:buFont typeface="+mj-lt"/>
              <a:buAutoNum type="arabicPeriod"/>
            </a:pPr>
            <a:r>
              <a:rPr lang="en-US" b="0" i="0" dirty="0">
                <a:effectLst/>
                <a:latin typeface="arial" panose="020B0604020202020204" pitchFamily="34" charset="0"/>
              </a:rPr>
              <a:t>Determine Your Data Collection Method. ...</a:t>
            </a:r>
          </a:p>
          <a:p>
            <a:pPr algn="l">
              <a:lnSpc>
                <a:spcPct val="150000"/>
              </a:lnSpc>
              <a:buFont typeface="+mj-lt"/>
              <a:buAutoNum type="arabicPeriod"/>
            </a:pPr>
            <a:r>
              <a:rPr lang="en-US" b="0" i="0" dirty="0">
                <a:effectLst/>
                <a:latin typeface="arial" panose="020B0604020202020204" pitchFamily="34" charset="0"/>
              </a:rPr>
              <a:t>Collect the Data. ...</a:t>
            </a:r>
          </a:p>
          <a:p>
            <a:pPr algn="l">
              <a:lnSpc>
                <a:spcPct val="150000"/>
              </a:lnSpc>
              <a:buFont typeface="+mj-lt"/>
              <a:buAutoNum type="arabicPeriod"/>
            </a:pPr>
            <a:r>
              <a:rPr lang="en-US" b="0" i="0" dirty="0">
                <a:effectLst/>
                <a:latin typeface="arial" panose="020B0604020202020204" pitchFamily="34" charset="0"/>
              </a:rPr>
              <a:t>Analyze the Data and Implement Your Findings.</a:t>
            </a:r>
          </a:p>
          <a:p>
            <a:pPr>
              <a:lnSpc>
                <a:spcPct val="150000"/>
              </a:lnSpc>
            </a:pPr>
            <a:endParaRPr lang="en-US" dirty="0"/>
          </a:p>
        </p:txBody>
      </p:sp>
    </p:spTree>
    <p:extLst>
      <p:ext uri="{BB962C8B-B14F-4D97-AF65-F5344CB8AC3E}">
        <p14:creationId xmlns:p14="http://schemas.microsoft.com/office/powerpoint/2010/main" val="23986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73E72E-D7E9-EE08-DB06-F5C9830E190A}"/>
              </a:ext>
            </a:extLst>
          </p:cNvPr>
          <p:cNvSpPr txBox="1"/>
          <p:nvPr/>
        </p:nvSpPr>
        <p:spPr>
          <a:xfrm>
            <a:off x="1031846" y="1828800"/>
            <a:ext cx="7122253" cy="3693319"/>
          </a:xfrm>
          <a:prstGeom prst="rect">
            <a:avLst/>
          </a:prstGeom>
          <a:noFill/>
        </p:spPr>
        <p:txBody>
          <a:bodyPr wrap="square" rtlCol="0">
            <a:spAutoFit/>
          </a:bodyPr>
          <a:lstStyle/>
          <a:p>
            <a:pPr algn="l"/>
            <a:r>
              <a:rPr lang="en-US" b="1" i="0" dirty="0">
                <a:solidFill>
                  <a:srgbClr val="333333"/>
                </a:solidFill>
                <a:effectLst/>
                <a:latin typeface="proxima-nova"/>
              </a:rPr>
              <a:t>Why Does the Data Processing Method Matter?</a:t>
            </a:r>
          </a:p>
          <a:p>
            <a:pPr algn="l"/>
            <a:endParaRPr lang="en-US" b="1" i="0" dirty="0">
              <a:solidFill>
                <a:srgbClr val="333333"/>
              </a:solidFill>
              <a:effectLst/>
              <a:latin typeface="proxima-nova"/>
            </a:endParaRPr>
          </a:p>
          <a:p>
            <a:pPr algn="l"/>
            <a:r>
              <a:rPr lang="en-US" b="0" i="0" dirty="0">
                <a:solidFill>
                  <a:srgbClr val="4C4C4C"/>
                </a:solidFill>
                <a:effectLst/>
                <a:latin typeface="proxima-nova"/>
              </a:rPr>
              <a:t>The method of data processing you employ will determine the response time to a query and how reliable the output is. Thus, the method needs to be chosen carefully. For instance, in a situation where availability is crucial, such as a stock exchange portal, transaction processing should be the preferred method.</a:t>
            </a:r>
          </a:p>
          <a:p>
            <a:pPr algn="l"/>
            <a:endParaRPr lang="en-US" b="0" i="0" dirty="0">
              <a:solidFill>
                <a:srgbClr val="4C4C4C"/>
              </a:solidFill>
              <a:effectLst/>
              <a:latin typeface="proxima-nova"/>
            </a:endParaRPr>
          </a:p>
          <a:p>
            <a:pPr algn="l"/>
            <a:r>
              <a:rPr lang="en-US" b="0" i="0" dirty="0">
                <a:solidFill>
                  <a:srgbClr val="4C4C4C"/>
                </a:solidFill>
                <a:effectLst/>
                <a:latin typeface="proxima-nova"/>
              </a:rPr>
              <a:t>It is important to note the difference between data processing and a data processing system. Data processing is the rules by which data is converted into useful information. A data processing system is an application that is optimized for a certain type of data processing.</a:t>
            </a:r>
          </a:p>
          <a:p>
            <a:endParaRPr lang="en-US" dirty="0"/>
          </a:p>
        </p:txBody>
      </p:sp>
      <p:sp>
        <p:nvSpPr>
          <p:cNvPr id="3" name="TextBox 2">
            <a:extLst>
              <a:ext uri="{FF2B5EF4-FFF2-40B4-BE49-F238E27FC236}">
                <a16:creationId xmlns:a16="http://schemas.microsoft.com/office/drawing/2014/main" id="{B7B3D7B4-90A0-3080-B123-49B52EBD666F}"/>
              </a:ext>
            </a:extLst>
          </p:cNvPr>
          <p:cNvSpPr txBox="1"/>
          <p:nvPr/>
        </p:nvSpPr>
        <p:spPr>
          <a:xfrm>
            <a:off x="545284" y="645952"/>
            <a:ext cx="5217953" cy="369332"/>
          </a:xfrm>
          <a:prstGeom prst="rect">
            <a:avLst/>
          </a:prstGeom>
          <a:noFill/>
        </p:spPr>
        <p:txBody>
          <a:bodyPr wrap="square" rtlCol="0">
            <a:spAutoFit/>
          </a:bodyPr>
          <a:lstStyle/>
          <a:p>
            <a:r>
              <a:rPr lang="en-US" b="1" dirty="0"/>
              <a:t>Data Processing</a:t>
            </a:r>
          </a:p>
        </p:txBody>
      </p:sp>
    </p:spTree>
    <p:extLst>
      <p:ext uri="{BB962C8B-B14F-4D97-AF65-F5344CB8AC3E}">
        <p14:creationId xmlns:p14="http://schemas.microsoft.com/office/powerpoint/2010/main" val="281096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4518C4-3CCB-26AD-A056-212F7DA887EB}"/>
              </a:ext>
            </a:extLst>
          </p:cNvPr>
          <p:cNvSpPr txBox="1"/>
          <p:nvPr/>
        </p:nvSpPr>
        <p:spPr>
          <a:xfrm>
            <a:off x="513826" y="1488532"/>
            <a:ext cx="5945698" cy="2949910"/>
          </a:xfrm>
          <a:prstGeom prst="rect">
            <a:avLst/>
          </a:prstGeom>
          <a:noFill/>
        </p:spPr>
        <p:txBody>
          <a:bodyPr wrap="square">
            <a:spAutoFit/>
          </a:bodyPr>
          <a:lstStyle/>
          <a:p>
            <a:pPr>
              <a:lnSpc>
                <a:spcPct val="150000"/>
              </a:lnSpc>
            </a:pPr>
            <a:r>
              <a:rPr lang="en-US" b="0" i="0" dirty="0">
                <a:effectLst/>
                <a:latin typeface="arial" panose="020B0604020202020204" pitchFamily="34" charset="0"/>
              </a:rPr>
              <a:t>Data management is </a:t>
            </a:r>
            <a:r>
              <a:rPr lang="en-US" b="1" i="0" dirty="0">
                <a:effectLst/>
                <a:latin typeface="arial" panose="020B0604020202020204" pitchFamily="34" charset="0"/>
              </a:rPr>
              <a:t>the practice of collecting, organizing, protecting, and storing an organization's data so it can be analyzed for business decisions</a:t>
            </a:r>
            <a:r>
              <a:rPr lang="en-US" b="0" i="0" dirty="0">
                <a:effectLst/>
                <a:latin typeface="arial" panose="020B0604020202020204" pitchFamily="34" charset="0"/>
              </a:rPr>
              <a:t>. As organizations create and consume data at unprecedented rates, data management solutions become essential for making sense of the vast quantities of data.</a:t>
            </a:r>
            <a:endParaRPr lang="en-US" dirty="0"/>
          </a:p>
        </p:txBody>
      </p:sp>
      <p:sp>
        <p:nvSpPr>
          <p:cNvPr id="4" name="TextBox 3">
            <a:extLst>
              <a:ext uri="{FF2B5EF4-FFF2-40B4-BE49-F238E27FC236}">
                <a16:creationId xmlns:a16="http://schemas.microsoft.com/office/drawing/2014/main" id="{A176D213-2634-1ACD-AFC1-5E4E9BD1103E}"/>
              </a:ext>
            </a:extLst>
          </p:cNvPr>
          <p:cNvSpPr txBox="1"/>
          <p:nvPr/>
        </p:nvSpPr>
        <p:spPr>
          <a:xfrm>
            <a:off x="7231310" y="1610686"/>
            <a:ext cx="4697835" cy="2950038"/>
          </a:xfrm>
          <a:prstGeom prst="rect">
            <a:avLst/>
          </a:prstGeom>
          <a:noFill/>
        </p:spPr>
        <p:txBody>
          <a:bodyPr wrap="square" rtlCol="0">
            <a:spAutoFit/>
          </a:bodyPr>
          <a:lstStyle/>
          <a:p>
            <a:pPr algn="l">
              <a:lnSpc>
                <a:spcPct val="150000"/>
              </a:lnSpc>
            </a:pPr>
            <a:r>
              <a:rPr lang="en-US" b="1" i="0" dirty="0">
                <a:effectLst/>
                <a:latin typeface="arial" panose="020B0604020202020204" pitchFamily="34" charset="0"/>
              </a:rPr>
              <a:t>4 types of data management systems</a:t>
            </a:r>
            <a:endParaRPr lang="en-US" b="0" i="0" dirty="0">
              <a:effectLst/>
              <a:latin typeface="arial" panose="020B0604020202020204" pitchFamily="34" charset="0"/>
            </a:endParaRPr>
          </a:p>
          <a:p>
            <a:pPr algn="l">
              <a:lnSpc>
                <a:spcPct val="150000"/>
              </a:lnSpc>
              <a:buFont typeface="Arial" panose="020B0604020202020204" pitchFamily="34" charset="0"/>
              <a:buChar char="•"/>
            </a:pPr>
            <a:r>
              <a:rPr lang="en-US" b="0" i="0" dirty="0">
                <a:effectLst/>
                <a:latin typeface="arial" panose="020B0604020202020204" pitchFamily="34" charset="0"/>
              </a:rPr>
              <a:t>Customer Relationship Management System or CRM. ...</a:t>
            </a:r>
          </a:p>
          <a:p>
            <a:pPr algn="l">
              <a:lnSpc>
                <a:spcPct val="150000"/>
              </a:lnSpc>
              <a:buFont typeface="Arial" panose="020B0604020202020204" pitchFamily="34" charset="0"/>
              <a:buChar char="•"/>
            </a:pPr>
            <a:r>
              <a:rPr lang="en-US" b="0" i="0" dirty="0">
                <a:effectLst/>
                <a:latin typeface="arial" panose="020B0604020202020204" pitchFamily="34" charset="0"/>
              </a:rPr>
              <a:t>Marketing technology systems. ...</a:t>
            </a:r>
          </a:p>
          <a:p>
            <a:pPr algn="l">
              <a:lnSpc>
                <a:spcPct val="150000"/>
              </a:lnSpc>
              <a:buFont typeface="Arial" panose="020B0604020202020204" pitchFamily="34" charset="0"/>
              <a:buChar char="•"/>
            </a:pPr>
            <a:r>
              <a:rPr lang="en-US" b="0" i="0" dirty="0">
                <a:effectLst/>
                <a:latin typeface="arial" panose="020B0604020202020204" pitchFamily="34" charset="0"/>
              </a:rPr>
              <a:t>Data Warehouse systems. ...</a:t>
            </a:r>
          </a:p>
          <a:p>
            <a:pPr algn="l">
              <a:lnSpc>
                <a:spcPct val="150000"/>
              </a:lnSpc>
              <a:buFont typeface="Arial" panose="020B0604020202020204" pitchFamily="34" charset="0"/>
              <a:buChar char="•"/>
            </a:pPr>
            <a:r>
              <a:rPr lang="en-US" b="0" i="0" dirty="0">
                <a:effectLst/>
                <a:latin typeface="arial" panose="020B0604020202020204" pitchFamily="34" charset="0"/>
              </a:rPr>
              <a:t>Analytics tools</a:t>
            </a:r>
          </a:p>
          <a:p>
            <a:pPr>
              <a:lnSpc>
                <a:spcPct val="150000"/>
              </a:lnSpc>
            </a:pPr>
            <a:endParaRPr lang="en-US" dirty="0"/>
          </a:p>
        </p:txBody>
      </p:sp>
      <p:sp>
        <p:nvSpPr>
          <p:cNvPr id="5" name="TextBox 4">
            <a:extLst>
              <a:ext uri="{FF2B5EF4-FFF2-40B4-BE49-F238E27FC236}">
                <a16:creationId xmlns:a16="http://schemas.microsoft.com/office/drawing/2014/main" id="{0DE63059-124C-F87F-C908-EF7F5CAD8488}"/>
              </a:ext>
            </a:extLst>
          </p:cNvPr>
          <p:cNvSpPr txBox="1"/>
          <p:nvPr/>
        </p:nvSpPr>
        <p:spPr>
          <a:xfrm>
            <a:off x="5430473" y="4983061"/>
            <a:ext cx="6761527" cy="1600438"/>
          </a:xfrm>
          <a:prstGeom prst="rect">
            <a:avLst/>
          </a:prstGeom>
          <a:noFill/>
        </p:spPr>
        <p:txBody>
          <a:bodyPr wrap="square" rtlCol="0">
            <a:spAutoFit/>
          </a:bodyPr>
          <a:lstStyle/>
          <a:p>
            <a:pPr algn="l"/>
            <a:r>
              <a:rPr lang="en-US" sz="1600" b="1" i="0" dirty="0">
                <a:solidFill>
                  <a:srgbClr val="FF0000"/>
                </a:solidFill>
                <a:effectLst/>
                <a:latin typeface="arial" panose="020B0604020202020204" pitchFamily="34" charset="0"/>
              </a:rPr>
              <a:t>What are data management skills?</a:t>
            </a:r>
          </a:p>
          <a:p>
            <a:pPr algn="l"/>
            <a:r>
              <a:rPr lang="en-US" sz="1600" b="0" i="0" dirty="0">
                <a:effectLst/>
                <a:latin typeface="arial" panose="020B0604020202020204" pitchFamily="34" charset="0"/>
              </a:rPr>
              <a:t>Data management skills are </a:t>
            </a:r>
            <a:r>
              <a:rPr lang="en-US" sz="1600" b="1" i="0" dirty="0">
                <a:effectLst/>
                <a:latin typeface="arial" panose="020B0604020202020204" pitchFamily="34" charset="0"/>
              </a:rPr>
              <a:t>the abilities you use to effectively manage and use information</a:t>
            </a:r>
            <a:r>
              <a:rPr lang="en-US" sz="1600" b="0" i="0" dirty="0">
                <a:effectLst/>
                <a:latin typeface="arial" panose="020B0604020202020204" pitchFamily="34" charset="0"/>
              </a:rPr>
              <a:t>. Data management skills involve looking for patterns, understanding database design concepts and being able to participate in short and long-term planning about database projects.</a:t>
            </a:r>
          </a:p>
          <a:p>
            <a:endParaRPr lang="en-US" sz="1600" dirty="0"/>
          </a:p>
        </p:txBody>
      </p:sp>
    </p:spTree>
    <p:extLst>
      <p:ext uri="{BB962C8B-B14F-4D97-AF65-F5344CB8AC3E}">
        <p14:creationId xmlns:p14="http://schemas.microsoft.com/office/powerpoint/2010/main" val="1507049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E54791-D57B-95A5-CE06-30C03395D506}"/>
              </a:ext>
            </a:extLst>
          </p:cNvPr>
          <p:cNvSpPr txBox="1"/>
          <p:nvPr/>
        </p:nvSpPr>
        <p:spPr>
          <a:xfrm>
            <a:off x="872455" y="830510"/>
            <a:ext cx="5318620" cy="1200329"/>
          </a:xfrm>
          <a:prstGeom prst="rect">
            <a:avLst/>
          </a:prstGeom>
          <a:noFill/>
        </p:spPr>
        <p:txBody>
          <a:bodyPr wrap="square" rtlCol="0">
            <a:spAutoFit/>
          </a:bodyPr>
          <a:lstStyle/>
          <a:p>
            <a:r>
              <a:rPr lang="en-US" b="1" i="0" dirty="0">
                <a:effectLst/>
                <a:latin typeface="arial" panose="020B0604020202020204" pitchFamily="34" charset="0"/>
              </a:rPr>
              <a:t>Data analysis</a:t>
            </a:r>
            <a:r>
              <a:rPr lang="en-US" b="0" i="0" dirty="0">
                <a:effectLst/>
                <a:latin typeface="arial" panose="020B0604020202020204" pitchFamily="34" charset="0"/>
              </a:rPr>
              <a:t> is a process of inspecting, cleansing, transforming, and modelling data with the goal of discovering useful information, informing conclusions</a:t>
            </a:r>
            <a:endParaRPr lang="en-US" dirty="0"/>
          </a:p>
        </p:txBody>
      </p:sp>
      <p:sp>
        <p:nvSpPr>
          <p:cNvPr id="3" name="TextBox 2">
            <a:extLst>
              <a:ext uri="{FF2B5EF4-FFF2-40B4-BE49-F238E27FC236}">
                <a16:creationId xmlns:a16="http://schemas.microsoft.com/office/drawing/2014/main" id="{53ED4E84-B307-F4BB-4FA4-EEF237D324C5}"/>
              </a:ext>
            </a:extLst>
          </p:cNvPr>
          <p:cNvSpPr txBox="1"/>
          <p:nvPr/>
        </p:nvSpPr>
        <p:spPr>
          <a:xfrm>
            <a:off x="872455" y="3221372"/>
            <a:ext cx="5956184" cy="923330"/>
          </a:xfrm>
          <a:prstGeom prst="rect">
            <a:avLst/>
          </a:prstGeom>
          <a:noFill/>
        </p:spPr>
        <p:txBody>
          <a:bodyPr wrap="square" rtlCol="0">
            <a:spAutoFit/>
          </a:bodyPr>
          <a:lstStyle/>
          <a:p>
            <a:r>
              <a:rPr lang="en-US" b="0" i="0" dirty="0">
                <a:effectLst/>
                <a:latin typeface="arial" panose="020B0604020202020204" pitchFamily="34" charset="0"/>
              </a:rPr>
              <a:t> </a:t>
            </a:r>
            <a:r>
              <a:rPr lang="en-US" b="1" i="0" dirty="0">
                <a:effectLst/>
                <a:latin typeface="arial" panose="020B0604020202020204" pitchFamily="34" charset="0"/>
              </a:rPr>
              <a:t>Data analysis</a:t>
            </a:r>
            <a:r>
              <a:rPr lang="en-US" b="0" i="0" dirty="0">
                <a:effectLst/>
                <a:latin typeface="arial" panose="020B0604020202020204" pitchFamily="34" charset="0"/>
              </a:rPr>
              <a:t> is the process of collecting, modeling, and analyzing data to extract insights that support decision-making. </a:t>
            </a:r>
            <a:endParaRPr lang="en-US" dirty="0"/>
          </a:p>
        </p:txBody>
      </p:sp>
    </p:spTree>
    <p:extLst>
      <p:ext uri="{BB962C8B-B14F-4D97-AF65-F5344CB8AC3E}">
        <p14:creationId xmlns:p14="http://schemas.microsoft.com/office/powerpoint/2010/main" val="3968928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4B1365-9DC4-1B0C-7911-83B444085C84}"/>
              </a:ext>
            </a:extLst>
          </p:cNvPr>
          <p:cNvSpPr txBox="1"/>
          <p:nvPr/>
        </p:nvSpPr>
        <p:spPr>
          <a:xfrm>
            <a:off x="1352725" y="1685754"/>
            <a:ext cx="6094602" cy="1477328"/>
          </a:xfrm>
          <a:prstGeom prst="rect">
            <a:avLst/>
          </a:prstGeom>
          <a:noFill/>
        </p:spPr>
        <p:txBody>
          <a:bodyPr wrap="square">
            <a:spAutoFit/>
          </a:bodyPr>
          <a:lstStyle/>
          <a:p>
            <a:r>
              <a:rPr lang="en-GB" sz="1800" b="1" dirty="0"/>
              <a:t>Data visualization </a:t>
            </a:r>
            <a:r>
              <a:rPr lang="en-GB" sz="1800" dirty="0"/>
              <a:t>is the practice of translating information into a visual context, such as a graph or pivot tables, to make data easier to understand and develop insights from. The main goal of data visualization is </a:t>
            </a:r>
            <a:r>
              <a:rPr lang="en-GB" sz="1800" b="1" dirty="0"/>
              <a:t>to make it easier to identify patterns &amp; trends in large data sets</a:t>
            </a:r>
            <a:r>
              <a:rPr lang="en-GB" sz="1800" dirty="0"/>
              <a:t>.</a:t>
            </a:r>
            <a:endParaRPr lang="en-US" sz="1600" dirty="0">
              <a:cs typeface="Times New Roman" panose="02020603050405020304" pitchFamily="18" charset="0"/>
            </a:endParaRPr>
          </a:p>
        </p:txBody>
      </p:sp>
    </p:spTree>
    <p:extLst>
      <p:ext uri="{BB962C8B-B14F-4D97-AF65-F5344CB8AC3E}">
        <p14:creationId xmlns:p14="http://schemas.microsoft.com/office/powerpoint/2010/main" val="1409981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3CD2E4-B345-3D3E-8EAD-304D17B04CF9}"/>
              </a:ext>
            </a:extLst>
          </p:cNvPr>
          <p:cNvSpPr txBox="1"/>
          <p:nvPr/>
        </p:nvSpPr>
        <p:spPr>
          <a:xfrm>
            <a:off x="1853967" y="1979802"/>
            <a:ext cx="5201174" cy="923330"/>
          </a:xfrm>
          <a:prstGeom prst="rect">
            <a:avLst/>
          </a:prstGeom>
          <a:noFill/>
        </p:spPr>
        <p:txBody>
          <a:bodyPr wrap="square" rtlCol="0">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refers to the process of using diverse analytical methods to review data and arrive at relevant conclusion</a:t>
            </a:r>
            <a:endParaRPr lang="en-US" dirty="0"/>
          </a:p>
        </p:txBody>
      </p:sp>
      <p:sp>
        <p:nvSpPr>
          <p:cNvPr id="3" name="TextBox 2">
            <a:extLst>
              <a:ext uri="{FF2B5EF4-FFF2-40B4-BE49-F238E27FC236}">
                <a16:creationId xmlns:a16="http://schemas.microsoft.com/office/drawing/2014/main" id="{6A65CBEE-37A0-CBED-707F-E80C679C01C1}"/>
              </a:ext>
            </a:extLst>
          </p:cNvPr>
          <p:cNvSpPr txBox="1"/>
          <p:nvPr/>
        </p:nvSpPr>
        <p:spPr>
          <a:xfrm>
            <a:off x="1853967" y="3246539"/>
            <a:ext cx="5016616" cy="923330"/>
          </a:xfrm>
          <a:prstGeom prst="rect">
            <a:avLst/>
          </a:prstGeom>
          <a:noFill/>
        </p:spPr>
        <p:txBody>
          <a:bodyPr wrap="square" rtlCol="0">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is the process of reviewing data and drawing meaningful conclusions using a variety of analytical approaches</a:t>
            </a:r>
            <a:endParaRPr lang="en-US" dirty="0"/>
          </a:p>
        </p:txBody>
      </p:sp>
      <p:sp>
        <p:nvSpPr>
          <p:cNvPr id="5" name="TextBox 4">
            <a:extLst>
              <a:ext uri="{FF2B5EF4-FFF2-40B4-BE49-F238E27FC236}">
                <a16:creationId xmlns:a16="http://schemas.microsoft.com/office/drawing/2014/main" id="{353B9584-0E9B-7073-0C51-EE54A868D4E0}"/>
              </a:ext>
            </a:extLst>
          </p:cNvPr>
          <p:cNvSpPr txBox="1"/>
          <p:nvPr/>
        </p:nvSpPr>
        <p:spPr>
          <a:xfrm>
            <a:off x="1853967" y="4680786"/>
            <a:ext cx="6094602" cy="923330"/>
          </a:xfrm>
          <a:prstGeom prst="rect">
            <a:avLst/>
          </a:prstGeom>
          <a:noFill/>
        </p:spPr>
        <p:txBody>
          <a:bodyPr wrap="square">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questions and answers with explanation for interview, competitive examination and entrance test. </a:t>
            </a:r>
            <a:endParaRPr lang="en-US" dirty="0"/>
          </a:p>
        </p:txBody>
      </p:sp>
    </p:spTree>
    <p:extLst>
      <p:ext uri="{BB962C8B-B14F-4D97-AF65-F5344CB8AC3E}">
        <p14:creationId xmlns:p14="http://schemas.microsoft.com/office/powerpoint/2010/main" val="1972533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747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4473;p56">
            <a:extLst>
              <a:ext uri="{FF2B5EF4-FFF2-40B4-BE49-F238E27FC236}">
                <a16:creationId xmlns:a16="http://schemas.microsoft.com/office/drawing/2014/main" id="{D35800C3-5F5D-4C7F-B7F9-EBDF384906DC}"/>
              </a:ext>
            </a:extLst>
          </p:cNvPr>
          <p:cNvSpPr/>
          <p:nvPr/>
        </p:nvSpPr>
        <p:spPr>
          <a:xfrm>
            <a:off x="-1" y="0"/>
            <a:ext cx="9236279" cy="6858000"/>
          </a:xfrm>
          <a:prstGeom prst="rect">
            <a:avLst/>
          </a:prstGeom>
          <a:solidFill>
            <a:srgbClr val="029C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4474;p56">
            <a:extLst>
              <a:ext uri="{FF2B5EF4-FFF2-40B4-BE49-F238E27FC236}">
                <a16:creationId xmlns:a16="http://schemas.microsoft.com/office/drawing/2014/main" id="{3EEDB230-553C-4399-830C-52C67008C3EC}"/>
              </a:ext>
            </a:extLst>
          </p:cNvPr>
          <p:cNvSpPr txBox="1"/>
          <p:nvPr/>
        </p:nvSpPr>
        <p:spPr>
          <a:xfrm>
            <a:off x="1647418" y="1603894"/>
            <a:ext cx="5941440" cy="3650212"/>
          </a:xfrm>
          <a:prstGeom prst="rect">
            <a:avLst/>
          </a:prstGeom>
          <a:noFill/>
          <a:ln>
            <a:noFill/>
          </a:ln>
        </p:spPr>
        <p:txBody>
          <a:bodyPr spcFirstLastPara="1" wrap="square" lIns="109700" tIns="54850" rIns="109700" bIns="54850" anchor="t" anchorCtr="0">
            <a:spAutoFit/>
          </a:bodyPr>
          <a:lstStyle/>
          <a:p>
            <a:pPr marL="0" marR="0" lvl="0" indent="0" algn="just" rtl="0">
              <a:lnSpc>
                <a:spcPct val="100000"/>
              </a:lnSpc>
              <a:spcBef>
                <a:spcPts val="0"/>
              </a:spcBef>
              <a:spcAft>
                <a:spcPts val="0"/>
              </a:spcAft>
              <a:buClr>
                <a:srgbClr val="000000"/>
              </a:buClr>
              <a:buSzPts val="11500"/>
              <a:buFont typeface="Arial"/>
              <a:buNone/>
            </a:pPr>
            <a:r>
              <a:rPr lang="en-US" sz="11500" b="0" i="0" u="none" strike="noStrike" cap="none" dirty="0">
                <a:solidFill>
                  <a:schemeClr val="lt1"/>
                </a:solidFill>
                <a:latin typeface="Arial"/>
                <a:ea typeface="Arial"/>
                <a:cs typeface="Arial"/>
                <a:sym typeface="Arial"/>
              </a:rPr>
              <a:t>THANK</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500"/>
              <a:buFont typeface="Arial"/>
              <a:buNone/>
            </a:pPr>
            <a:r>
              <a:rPr lang="en-US" sz="11500" b="0" i="0" u="none" strike="noStrike" cap="none" dirty="0">
                <a:solidFill>
                  <a:schemeClr val="lt1"/>
                </a:solidFill>
                <a:latin typeface="Arial"/>
                <a:ea typeface="Arial"/>
                <a:cs typeface="Arial"/>
                <a:sym typeface="Arial"/>
              </a:rPr>
              <a:t>YOU</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58523414"/>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 dockstate="right" visibility="0" width="350" row="7">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8510B9F-0608-455E-BD30-256E09A56192}">
  <we:reference id="wa200000113" version="1.0.0.0" store="en-US" storeType="OMEX"/>
  <we:alternateReferences>
    <we:reference id="wa200000113" version="1.0.0.0" store="WA20000011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0F707ECC-A227-4D08-84B2-6A2D23D0D558}">
  <we:reference id="wa104380902" version="1.0.0.0" store="en-US" storeType="OMEX"/>
  <we:alternateReferences>
    <we:reference id="wa104380902" version="1.0.0.0" store="WA10438090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{B321467A-3909-4BC8-B5A8-FCCD92A8FB69}tf22712842_win32</Template>
  <TotalTime>29100</TotalTime>
  <Words>956</Words>
  <Application>Microsoft Office PowerPoint</Application>
  <PresentationFormat>Widescreen</PresentationFormat>
  <Paragraphs>49</Paragraphs>
  <Slides>12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Arial</vt:lpstr>
      <vt:lpstr>Bookman Old Style</vt:lpstr>
      <vt:lpstr>Calibri</vt:lpstr>
      <vt:lpstr>Franklin Gothic Book</vt:lpstr>
      <vt:lpstr>Google Sans</vt:lpstr>
      <vt:lpstr>proxima-nova</vt:lpstr>
      <vt:lpstr>Times New Roman</vt:lpstr>
      <vt:lpstr>1_RetrospectVTI</vt:lpstr>
      <vt:lpstr>Data ecosystem, data lifecycle, and  building your analytical skill 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Effective &amp; Efficient Exploratory Data Analysis and Business Intelligence Tool that helps to Bring Your Data to Life</dc:title>
  <dc:creator>Enoch Nunekpeku</dc:creator>
  <cp:lastModifiedBy>Enoch Nunekpeku</cp:lastModifiedBy>
  <cp:revision>74</cp:revision>
  <dcterms:created xsi:type="dcterms:W3CDTF">2022-03-18T21:56:52Z</dcterms:created>
  <dcterms:modified xsi:type="dcterms:W3CDTF">2022-07-04T14:04:09Z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